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1_0.xml" ContentType="application/vnd.ms-powerpoint.comments+xml"/>
  <Override PartName="/ppt/comments/modernComment_103_0.xml" ContentType="application/vnd.ms-powerpoint.comments+xml"/>
  <Override PartName="/ppt/comments/modernComment_105_0.xml" ContentType="application/vnd.ms-powerpoint.comments+xml"/>
  <Override PartName="/ppt/comments/modernComment_108_0.xml" ContentType="application/vnd.ms-powerpoint.comments+xml"/>
  <Override PartName="/ppt/comments/modernComment_109_0.xml" ContentType="application/vnd.ms-powerpoint.comments+xml"/>
  <Override PartName="/ppt/comments/modernComment_10A_0.xml" ContentType="application/vnd.ms-powerpoint.comments+xml"/>
  <Override PartName="/ppt/comments/modernComment_10C_5DE33F91.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ECE75C-DA9F-31AD-FC5C-0B21E47475A0}" name="Ana Rule" initials="AR" userId="S::arule1@jh.edu::0cc1aa9c-b87a-4ec9-9692-7dee2b9d9fc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10A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64CCE6-8F78-A9EF-6534-491FDEA355E0}" v="108" dt="2026-09-17T00:14:33.262"/>
    <p1510:client id="{A04FB217-8675-5771-2A02-A3BAB88CF551}" v="899" dt="2026-09-17T03:36:25.5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FB82AE87-33A8-44EF-B9AC-18E9E1B86B93}" authorId="{C3ECE75C-DA9F-31AD-FC5C-0B21E47475A0}" created="2026-09-17T03:22:13.640">
    <ac:txMkLst xmlns:ac="http://schemas.microsoft.com/office/drawing/2013/main/command">
      <pc:docMk xmlns:pc="http://schemas.microsoft.com/office/powerpoint/2013/main/command"/>
      <pc:sldMk xmlns:pc="http://schemas.microsoft.com/office/powerpoint/2013/main/command" cId="0" sldId="266"/>
      <ac:spMk id="5" creationId="{00000000-0000-0000-0000-000000000000}"/>
      <ac:txMk cp="102" len="204">
        <ac:context len="545" hash="1842666896"/>
      </ac:txMk>
    </ac:txMkLst>
    <p188:pos x="3902363" y="1454727"/>
    <p188:txBody>
      <a:bodyPr/>
      <a:lstStyle/>
      <a:p>
        <a:r>
          <a:rPr lang="en-US"/>
          <a:t>this text belongs in the conclusion slide</a:t>
        </a:r>
      </a:p>
    </p188:txBody>
  </p188:cm>
  <p188:cm id="{42D08383-EA5F-4C55-8045-B52679D62B08}" authorId="{C3ECE75C-DA9F-31AD-FC5C-0B21E47475A0}" created="2026-09-17T03:22:54.643">
    <ac:txMkLst xmlns:ac="http://schemas.microsoft.com/office/drawing/2013/main/command">
      <pc:docMk xmlns:pc="http://schemas.microsoft.com/office/powerpoint/2013/main/command"/>
      <pc:sldMk xmlns:pc="http://schemas.microsoft.com/office/powerpoint/2013/main/command" cId="0" sldId="266"/>
      <ac:spMk id="5" creationId="{00000000-0000-0000-0000-000000000000}"/>
      <ac:txMk cp="0" len="100">
        <ac:context len="545" hash="1842666896"/>
      </ac:txMk>
    </ac:txMkLst>
    <p188:pos x="8266545" y="261696"/>
    <p188:txBody>
      <a:bodyPr/>
      <a:lstStyle/>
      <a:p>
        <a:r>
          <a:rPr lang="en-US"/>
          <a:t>this belongs in the methods</a:t>
        </a:r>
      </a:p>
    </p188:txBody>
  </p188:cm>
  <p188:cm id="{16BDF16C-E0DA-48BB-BE13-3B0EB83954D3}" authorId="{C3ECE75C-DA9F-31AD-FC5C-0B21E47475A0}" created="2026-09-17T03:24:44.227">
    <ac:txMkLst xmlns:ac="http://schemas.microsoft.com/office/drawing/2013/main/command">
      <pc:docMk xmlns:pc="http://schemas.microsoft.com/office/powerpoint/2013/main/command"/>
      <pc:sldMk xmlns:pc="http://schemas.microsoft.com/office/powerpoint/2013/main/command" cId="0" sldId="266"/>
      <ac:spMk id="5" creationId="{00000000-0000-0000-0000-000000000000}"/>
      <ac:txMk cp="210" len="32">
        <ac:context len="545" hash="1842666896"/>
      </ac:txMk>
    </ac:txMkLst>
    <p188:pos x="4410363" y="885151"/>
    <p188:txBody>
      <a:bodyPr/>
      <a:lstStyle/>
      <a:p>
        <a:r>
          <a:rPr lang="en-US"/>
          <a:t>this is not correct. They do provide the hours for the average</a:t>
        </a:r>
      </a:p>
    </p188:txBody>
  </p188:cm>
  <p188:cm id="{6A92C142-4639-42CC-989C-02457D91D810}" authorId="{C3ECE75C-DA9F-31AD-FC5C-0B21E47475A0}" created="2026-09-17T03:25:21.683">
    <ac:txMkLst xmlns:ac="http://schemas.microsoft.com/office/drawing/2013/main/command">
      <pc:docMk xmlns:pc="http://schemas.microsoft.com/office/powerpoint/2013/main/command"/>
      <pc:sldMk xmlns:pc="http://schemas.microsoft.com/office/powerpoint/2013/main/command" cId="0" sldId="266"/>
      <ac:spMk id="5" creationId="{00000000-0000-0000-0000-000000000000}"/>
      <ac:txMk cp="243" len="63">
        <ac:context len="545" hash="1842666896"/>
      </ac:txMk>
    </ac:txMkLst>
    <p188:pos x="8620606" y="885151"/>
    <p188:txBody>
      <a:bodyPr/>
      <a:lstStyle/>
      <a:p>
        <a:r>
          <a:rPr lang="en-US"/>
          <a:t>I don't think this is a limitation</a:t>
        </a:r>
      </a:p>
    </p188:txBody>
  </p188:cm>
  <p188:cm id="{35C39A03-4BDD-44F7-B5EE-C2CF09A93112}" authorId="{C3ECE75C-DA9F-31AD-FC5C-0B21E47475A0}" created="2026-09-17T03:28:48.774">
    <ac:txMkLst xmlns:ac="http://schemas.microsoft.com/office/drawing/2013/main/command">
      <pc:docMk xmlns:pc="http://schemas.microsoft.com/office/powerpoint/2013/main/command"/>
      <pc:sldMk xmlns:pc="http://schemas.microsoft.com/office/powerpoint/2013/main/command" cId="0" sldId="266"/>
      <ac:spMk id="4" creationId="{00000000-0000-0000-0000-000000000000}"/>
      <ac:txMk cp="93" len="37">
        <ac:context len="386" hash="696467414"/>
      </ac:txMk>
    </ac:txMkLst>
    <p188:pos x="3733030" y="1470121"/>
    <p188:txBody>
      <a:bodyPr/>
      <a:lstStyle/>
      <a:p>
        <a:r>
          <a:rPr lang="en-US"/>
          <a:t>Actually... we would not have data without funding for the monitors</a:t>
        </a:r>
      </a:p>
    </p188:txBody>
  </p188:cm>
  <p188:cm id="{00F35103-DB67-4D44-AC8E-616142980B99}" authorId="{C3ECE75C-DA9F-31AD-FC5C-0B21E47475A0}" created="2026-09-17T03:31:04.767">
    <ac:deMkLst xmlns:ac="http://schemas.microsoft.com/office/drawing/2013/main/command">
      <pc:docMk xmlns:pc="http://schemas.microsoft.com/office/powerpoint/2013/main/command"/>
      <pc:sldMk xmlns:pc="http://schemas.microsoft.com/office/powerpoint/2013/main/command" cId="0" sldId="266"/>
      <ac:spMk id="5" creationId="{00000000-0000-0000-0000-000000000000}"/>
    </ac:deMkLst>
    <p188:txBody>
      <a:bodyPr/>
      <a:lstStyle/>
      <a:p>
        <a:r>
          <a:rPr lang="en-US"/>
          <a:t>you can leave the references in this slide but please make the font at least size 18</a:t>
        </a:r>
      </a:p>
    </p188:txBody>
  </p188:cm>
</p188:cmLst>
</file>

<file path=ppt/comments/modernComment_10C_5DE33F91.xml><?xml version="1.0" encoding="utf-8"?>
<p188:cmLst xmlns:a="http://schemas.openxmlformats.org/drawingml/2006/main" xmlns:r="http://schemas.openxmlformats.org/officeDocument/2006/relationships" xmlns:p188="http://schemas.microsoft.com/office/powerpoint/2018/8/main">
  <p188:cm id="{B3346980-A478-4628-A4B2-84F41602896F}" authorId="{C3ECE75C-DA9F-31AD-FC5C-0B21E47475A0}" created="2026-09-17T03:22:13.640">
    <ac:txMkLst xmlns:ac="http://schemas.microsoft.com/office/drawing/2013/main/command">
      <pc:docMk xmlns:pc="http://schemas.microsoft.com/office/powerpoint/2013/main/command"/>
      <pc:sldMk xmlns:pc="http://schemas.microsoft.com/office/powerpoint/2013/main/command" cId="1575174033" sldId="268"/>
      <ac:spMk id="5" creationId="{9C27A790-14CE-D719-8F3C-11877C574ED3}"/>
      <ac:txMk cp="102" len="204">
        <ac:context len="545" hash="1842666896"/>
      </ac:txMk>
    </ac:txMkLst>
    <p188:pos x="3902363" y="1454727"/>
    <p188:txBody>
      <a:bodyPr/>
      <a:lstStyle/>
      <a:p>
        <a:r>
          <a:rPr lang="en-US"/>
          <a:t>this text belongs in the conclusion slide</a:t>
        </a:r>
      </a:p>
    </p188:txBody>
  </p188:cm>
  <p188:cm id="{160F6BC2-6EA3-44C1-924F-CCBF246ACB95}" authorId="{C3ECE75C-DA9F-31AD-FC5C-0B21E47475A0}" created="2026-09-17T03:22:54.643">
    <ac:txMkLst xmlns:ac="http://schemas.microsoft.com/office/drawing/2013/main/command">
      <pc:docMk xmlns:pc="http://schemas.microsoft.com/office/powerpoint/2013/main/command"/>
      <pc:sldMk xmlns:pc="http://schemas.microsoft.com/office/powerpoint/2013/main/command" cId="1575174033" sldId="268"/>
      <ac:spMk id="5" creationId="{9C27A790-14CE-D719-8F3C-11877C574ED3}"/>
      <ac:txMk cp="0" len="100">
        <ac:context len="545" hash="1842666896"/>
      </ac:txMk>
    </ac:txMkLst>
    <p188:pos x="8266545" y="261696"/>
    <p188:txBody>
      <a:bodyPr/>
      <a:lstStyle/>
      <a:p>
        <a:r>
          <a:rPr lang="en-US"/>
          <a:t>this belongs in the methods</a:t>
        </a:r>
      </a:p>
    </p188:txBody>
  </p188:cm>
  <p188:cm id="{50EA371D-F4A4-4F83-A6D9-41D3F1AE3F89}" authorId="{C3ECE75C-DA9F-31AD-FC5C-0B21E47475A0}" created="2026-09-17T03:24:44.227">
    <ac:txMkLst xmlns:ac="http://schemas.microsoft.com/office/drawing/2013/main/command">
      <pc:docMk xmlns:pc="http://schemas.microsoft.com/office/powerpoint/2013/main/command"/>
      <pc:sldMk xmlns:pc="http://schemas.microsoft.com/office/powerpoint/2013/main/command" cId="1575174033" sldId="268"/>
      <ac:spMk id="5" creationId="{9C27A790-14CE-D719-8F3C-11877C574ED3}"/>
      <ac:txMk cp="210" len="32">
        <ac:context len="545" hash="1842666896"/>
      </ac:txMk>
    </ac:txMkLst>
    <p188:pos x="4410363" y="885151"/>
    <p188:txBody>
      <a:bodyPr/>
      <a:lstStyle/>
      <a:p>
        <a:r>
          <a:rPr lang="en-US"/>
          <a:t>this is not correct. They do provide the hours for the average</a:t>
        </a:r>
      </a:p>
    </p188:txBody>
  </p188:cm>
  <p188:cm id="{9A8E91C7-AC1B-41F9-8933-CAC6E6342520}" authorId="{C3ECE75C-DA9F-31AD-FC5C-0B21E47475A0}" created="2026-09-17T03:25:21.683">
    <ac:txMkLst xmlns:ac="http://schemas.microsoft.com/office/drawing/2013/main/command">
      <pc:docMk xmlns:pc="http://schemas.microsoft.com/office/powerpoint/2013/main/command"/>
      <pc:sldMk xmlns:pc="http://schemas.microsoft.com/office/powerpoint/2013/main/command" cId="1575174033" sldId="268"/>
      <ac:spMk id="5" creationId="{9C27A790-14CE-D719-8F3C-11877C574ED3}"/>
      <ac:txMk cp="243" len="63">
        <ac:context len="545" hash="1842666896"/>
      </ac:txMk>
    </ac:txMkLst>
    <p188:pos x="8620606" y="885151"/>
    <p188:txBody>
      <a:bodyPr/>
      <a:lstStyle/>
      <a:p>
        <a:r>
          <a:rPr lang="en-US"/>
          <a:t>I don't think this is a limitation</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589C5538-B57B-4BE8-BAD4-EBA25312AE9B}" authorId="{C3ECE75C-DA9F-31AD-FC5C-0B21E47475A0}" created="2026-09-17T02:02:01.684">
    <ac:txMkLst xmlns:ac="http://schemas.microsoft.com/office/drawing/2013/main/command">
      <pc:docMk xmlns:pc="http://schemas.microsoft.com/office/powerpoint/2013/main/command"/>
      <pc:sldMk xmlns:pc="http://schemas.microsoft.com/office/powerpoint/2013/main/command" cId="0" sldId="257"/>
      <ac:spMk id="5" creationId="{00000000-0000-0000-0000-000000000000}"/>
      <ac:txMk cp="0" len="89">
        <ac:context len="327" hash="2253230466"/>
      </ac:txMk>
    </ac:txMkLst>
    <p188:pos x="3979333" y="677333"/>
    <p188:replyLst>
      <p188:reply id="{0EECA014-6753-4B1A-BAD0-0176EA76EE03}" authorId="{C3ECE75C-DA9F-31AD-FC5C-0B21E47475A0}" created="2026-09-17T02:05:18.321">
        <p188:txBody>
          <a:bodyPr/>
          <a:lstStyle/>
          <a:p>
            <a:r>
              <a:rPr lang="en-US"/>
              <a:t>Remember, you are not writing a novel. you are reporting the facts</a:t>
            </a:r>
          </a:p>
        </p188:txBody>
      </p188:reply>
    </p188:replyLst>
    <p188:txBody>
      <a:bodyPr/>
      <a:lstStyle/>
      <a:p>
        <a:r>
          <a:rPr lang="en-US"/>
          <a:t>When we started monitoring, there was no noise, so this is not accurate. I would suggest something like this:
Neighbors of a chemical manufacturing plant have been trying to stop the construction of a new plastic pyrolysis unit. Their main concerns include exposure to VOC, Particulate Matter, and noise.</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06DF54FA-6F9C-4BAE-B705-F424C5AF3C80}" authorId="{C3ECE75C-DA9F-31AD-FC5C-0B21E47475A0}" created="2026-09-17T02:17:41.321">
    <ac:txMkLst xmlns:ac="http://schemas.microsoft.com/office/drawing/2013/main/command">
      <pc:docMk xmlns:pc="http://schemas.microsoft.com/office/powerpoint/2013/main/command"/>
      <pc:sldMk xmlns:pc="http://schemas.microsoft.com/office/powerpoint/2013/main/command" cId="0" sldId="259"/>
      <ac:spMk id="7" creationId="{00000000-0000-0000-0000-000000000000}"/>
      <ac:txMk cp="0" len="17">
        <ac:context len="169" hash="437946034"/>
      </ac:txMk>
    </ac:txMkLst>
    <p188:pos x="1924242" y="269393"/>
    <p188:txBody>
      <a:bodyPr/>
      <a:lstStyle/>
      <a:p>
        <a:r>
          <a:rPr lang="en-US"/>
          <a:t>Please write the technical definition of Leq here. ​</a:t>
        </a:r>
      </a:p>
    </p188:txBody>
  </p188:cm>
  <p188:cm id="{9CD00AAC-120F-4426-9531-3CB5CAF2933B}" authorId="{C3ECE75C-DA9F-31AD-FC5C-0B21E47475A0}" created="2026-09-17T02:24:27.408">
    <ac:txMkLst xmlns:ac="http://schemas.microsoft.com/office/drawing/2013/main/command">
      <pc:docMk xmlns:pc="http://schemas.microsoft.com/office/powerpoint/2013/main/command"/>
      <pc:sldMk xmlns:pc="http://schemas.microsoft.com/office/powerpoint/2013/main/command" cId="0" sldId="259"/>
      <ac:spMk id="7" creationId="{00000000-0000-0000-0000-000000000000}"/>
      <ac:txMk cp="106" len="62">
        <ac:context len="169" hash="437946034"/>
      </ac:txMk>
    </ac:txMkLst>
    <p188:pos x="615757" y="1885757"/>
    <p188:txBody>
      <a:bodyPr/>
      <a:lstStyle/>
      <a:p>
        <a:r>
          <a:rPr lang="en-US"/>
          <a:t>this is not very clear. Just explain how Leq is calculated. Averaging over extended periods of time eliminates noise peaks</a:t>
        </a:r>
      </a:p>
    </p188:txBody>
  </p188:cm>
  <p188:cm id="{ECF098FC-0F1D-46ED-A837-86F6954EAFE9}" authorId="{C3ECE75C-DA9F-31AD-FC5C-0B21E47475A0}" created="2026-09-17T02:33:35.052">
    <ac:txMkLst xmlns:ac="http://schemas.microsoft.com/office/drawing/2013/main/command">
      <pc:docMk xmlns:pc="http://schemas.microsoft.com/office/powerpoint/2013/main/command"/>
      <pc:sldMk xmlns:pc="http://schemas.microsoft.com/office/powerpoint/2013/main/command" cId="0" sldId="259"/>
      <ac:spMk id="10" creationId="{00000000-0000-0000-0000-000000000000}"/>
      <ac:txMk cp="75" len="117">
        <ac:context len="193" hash="2136188789"/>
      </ac:txMk>
    </ac:txMkLst>
    <p188:pos x="4556606" y="2185939"/>
    <p188:txBody>
      <a:bodyPr/>
      <a:lstStyle/>
      <a:p>
        <a:r>
          <a:rPr lang="en-US"/>
          <a:t>we had language already in the report (comparative noise analysis) that i think is more clear than this language</a:t>
        </a:r>
      </a:p>
    </p188:txBody>
  </p188:cm>
  <p188:cm id="{BF7FDD6E-8463-482C-BCD0-6C1A8050BB44}" authorId="{C3ECE75C-DA9F-31AD-FC5C-0B21E47475A0}" created="2026-09-17T02:38:10.866">
    <ac:txMkLst xmlns:ac="http://schemas.microsoft.com/office/drawing/2013/main/command">
      <pc:docMk xmlns:pc="http://schemas.microsoft.com/office/powerpoint/2013/main/command"/>
      <pc:sldMk xmlns:pc="http://schemas.microsoft.com/office/powerpoint/2013/main/command" cId="0" sldId="259"/>
      <ac:spMk id="11" creationId="{00000000-0000-0000-0000-000000000000}"/>
      <ac:txMk cp="2" len="7">
        <ac:context len="311" hash="4241083228"/>
      </ac:txMk>
    </ac:txMkLst>
    <p188:pos x="1262303" y="269393"/>
    <p188:txBody>
      <a:bodyPr/>
      <a:lstStyle/>
      <a:p>
        <a:r>
          <a:rPr lang="en-US"/>
          <a:t>You would have to define "normal" which is very tricky, especially in this context. I would call it a "quiet" neighborhood</a:t>
        </a:r>
      </a:p>
    </p188:txBody>
  </p188:cm>
  <p188:cm id="{1686C7E0-04B0-476B-A94C-749423DB91D5}" authorId="{C3ECE75C-DA9F-31AD-FC5C-0B21E47475A0}" created="2026-09-17T02:41:37.378">
    <ac:txMkLst xmlns:ac="http://schemas.microsoft.com/office/drawing/2013/main/command">
      <pc:docMk xmlns:pc="http://schemas.microsoft.com/office/powerpoint/2013/main/command"/>
      <pc:sldMk xmlns:pc="http://schemas.microsoft.com/office/powerpoint/2013/main/command" cId="0" sldId="259"/>
      <ac:spMk id="11" creationId="{00000000-0000-0000-0000-000000000000}"/>
      <ac:txMk cp="129" len="39">
        <ac:context len="311" hash="4241083228"/>
      </ac:txMk>
    </ac:txMkLst>
    <p188:pos x="1824181" y="885151"/>
    <p188:txBody>
      <a:bodyPr/>
      <a:lstStyle/>
      <a:p>
        <a:r>
          <a:rPr lang="en-US"/>
          <a:t>each of your data points are measurements. The best way to describe this is using simple but technically accurate language, such as "the day-night drop is a valuable tool" or a valuable metric or a useful metric</a:t>
        </a:r>
      </a:p>
    </p188:txBody>
  </p188:cm>
  <p188:cm id="{E476944A-E36F-48FD-8A4C-77C2A88BE959}" authorId="{C3ECE75C-DA9F-31AD-FC5C-0B21E47475A0}" created="2026-09-17T02:43:35.886">
    <ac:txMkLst xmlns:ac="http://schemas.microsoft.com/office/drawing/2013/main/command">
      <pc:docMk xmlns:pc="http://schemas.microsoft.com/office/powerpoint/2013/main/command"/>
      <pc:sldMk xmlns:pc="http://schemas.microsoft.com/office/powerpoint/2013/main/command" cId="0" sldId="259"/>
      <ac:spMk id="11" creationId="{00000000-0000-0000-0000-000000000000}"/>
      <ac:txMk cp="169" len="141">
        <ac:context len="311" hash="4241083228"/>
      </ac:txMk>
    </ac:txMkLst>
    <p188:pos x="862060" y="1562484"/>
    <p188:txBody>
      <a:bodyPr/>
      <a:lstStyle/>
      <a:p>
        <a:r>
          <a:rPr lang="en-US"/>
          <a:t>putting this text here so small means you don't really want people to read it or it is not as important. If you really want to mention this, add one of the noise graphics that shows the log scale, probably in your previous slide</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A4D18E84-D74B-4497-B3D7-1E2C85F012EC}" authorId="{C3ECE75C-DA9F-31AD-FC5C-0B21E47475A0}" created="2026-09-17T02:47:43.979">
    <ac:txMkLst xmlns:ac="http://schemas.microsoft.com/office/drawing/2013/main/command">
      <pc:docMk xmlns:pc="http://schemas.microsoft.com/office/powerpoint/2013/main/command"/>
      <pc:sldMk xmlns:pc="http://schemas.microsoft.com/office/powerpoint/2013/main/command" cId="0" sldId="261"/>
      <ac:spMk id="6" creationId="{00000000-0000-0000-0000-000000000000}"/>
      <ac:txMk cp="131" len="11">
        <ac:context len="358" hash="2463390878"/>
      </ac:txMk>
    </ac:txMkLst>
    <p188:pos x="1962727" y="746606"/>
    <p188:txBody>
      <a:bodyPr/>
      <a:lstStyle/>
      <a:p>
        <a:r>
          <a:rPr lang="en-US"/>
          <a:t>You need to define A-weighted - it;s better to do it in one of the intro slides</a:t>
        </a:r>
      </a:p>
    </p188:txBody>
  </p188:cm>
  <p188:cm id="{F869AB3F-BE39-4F60-88F9-8F0A1493CBFA}" authorId="{C3ECE75C-DA9F-31AD-FC5C-0B21E47475A0}" created="2026-09-17T02:48:52.608">
    <ac:txMkLst xmlns:ac="http://schemas.microsoft.com/office/drawing/2013/main/command">
      <pc:docMk xmlns:pc="http://schemas.microsoft.com/office/powerpoint/2013/main/command"/>
      <pc:sldMk xmlns:pc="http://schemas.microsoft.com/office/powerpoint/2013/main/command" cId="0" sldId="261"/>
      <ac:spMk id="7" creationId="{00000000-0000-0000-0000-000000000000}"/>
      <ac:txMk cp="0" len="132">
        <ac:context len="342" hash="3383155193"/>
      </ac:txMk>
    </ac:txMkLst>
    <p188:pos x="4625878" y="461818"/>
    <p188:txBody>
      <a:bodyPr/>
      <a:lstStyle/>
      <a:p>
        <a:r>
          <a:rPr lang="en-US"/>
          <a:t>you have this already in the figure so you can delete from here</a:t>
        </a:r>
      </a:p>
    </p188:txBody>
  </p188:cm>
  <p188:cm id="{1E6EB5A3-5986-466F-B18C-C7E572F4B203}" authorId="{C3ECE75C-DA9F-31AD-FC5C-0B21E47475A0}" created="2026-09-17T02:53:02.717">
    <ac:txMkLst xmlns:ac="http://schemas.microsoft.com/office/drawing/2013/main/command">
      <pc:docMk xmlns:pc="http://schemas.microsoft.com/office/powerpoint/2013/main/command"/>
      <pc:sldMk xmlns:pc="http://schemas.microsoft.com/office/powerpoint/2013/main/command" cId="0" sldId="261"/>
      <ac:spMk id="6" creationId="{00000000-0000-0000-0000-000000000000}"/>
      <ac:txMk cp="117" len="117">
        <ac:context len="358" hash="2463390878"/>
      </ac:txMk>
    </ac:txMkLst>
    <p188:pos x="3463636" y="931333"/>
    <p188:txBody>
      <a:bodyPr/>
      <a:lstStyle/>
      <a:p>
        <a:r>
          <a:rPr lang="en-US"/>
          <a:t>you have this in figure 2 so i would delete from here</a:t>
        </a:r>
      </a:p>
    </p188:txBody>
  </p188:cm>
  <p188:cm id="{F0C43F70-80AE-42F5-8F1D-08720B1E51B3}" authorId="{C3ECE75C-DA9F-31AD-FC5C-0B21E47475A0}" created="2026-09-17T02:55:00.740">
    <ac:txMkLst xmlns:ac="http://schemas.microsoft.com/office/drawing/2013/main/command">
      <pc:docMk xmlns:pc="http://schemas.microsoft.com/office/powerpoint/2013/main/command"/>
      <pc:sldMk xmlns:pc="http://schemas.microsoft.com/office/powerpoint/2013/main/command" cId="0" sldId="261"/>
      <ac:spMk id="7" creationId="{00000000-0000-0000-0000-000000000000}"/>
      <ac:txMk cp="133" len="117">
        <ac:context len="342" hash="3383155193"/>
      </ac:txMk>
    </ac:txMkLst>
    <p188:pos x="3632969" y="931333"/>
    <p188:txBody>
      <a:bodyPr/>
      <a:lstStyle/>
      <a:p>
        <a:r>
          <a:rPr lang="en-US"/>
          <a:t>this is important so make this larger font. You can also show two of the figures (only one setup) and text on one side</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34F138E5-82C2-4B92-A8E1-8BCC185563F2}" authorId="{C3ECE75C-DA9F-31AD-FC5C-0B21E47475A0}" created="2026-09-17T03:05:02.779">
    <ac:txMkLst xmlns:ac="http://schemas.microsoft.com/office/drawing/2013/main/command">
      <pc:docMk xmlns:pc="http://schemas.microsoft.com/office/powerpoint/2013/main/command"/>
      <pc:sldMk xmlns:pc="http://schemas.microsoft.com/office/powerpoint/2013/main/command" cId="0" sldId="264"/>
      <ac:spMk id="10" creationId="{00000000-0000-0000-0000-000000000000}"/>
      <ac:txMk cp="87" len="107">
        <ac:context len="359" hash="3205902126"/>
      </ac:txMk>
    </ac:txMkLst>
    <p188:pos x="2870969" y="2047393"/>
    <p188:txBody>
      <a:bodyPr/>
      <a:lstStyle/>
      <a:p>
        <a:r>
          <a:rPr lang="en-US"/>
          <a:t>this is not clear (and probably not relevant for this audience)</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0CAAFE40-D77E-48A4-B7A2-3DB900697074}" authorId="{C3ECE75C-DA9F-31AD-FC5C-0B21E47475A0}" created="2026-09-17T03:13:39.546">
    <ac:txMkLst xmlns:ac="http://schemas.microsoft.com/office/drawing/2013/main/command">
      <pc:docMk xmlns:pc="http://schemas.microsoft.com/office/powerpoint/2013/main/command"/>
      <pc:sldMk xmlns:pc="http://schemas.microsoft.com/office/powerpoint/2013/main/command" cId="0" sldId="265"/>
      <ac:spMk id="5" creationId="{00000000-0000-0000-0000-000000000000}"/>
      <ac:txMk cp="660" len="8">
        <ac:context len="863" hash="2819985095"/>
      </ac:txMk>
    </ac:txMkLst>
    <p188:pos x="7658484" y="3502121"/>
    <p188:txBody>
      <a:bodyPr/>
      <a:lstStyle/>
      <a:p>
        <a:r>
          <a:rPr lang="en-US"/>
          <a:t>do you mean compare?</a:t>
        </a:r>
      </a:p>
    </p188:txBody>
  </p188:cm>
  <p188:cm id="{22BF65A4-2D4F-4A25-996E-6D8CAB0754AF}" authorId="{C3ECE75C-DA9F-31AD-FC5C-0B21E47475A0}" created="2026-09-17T03:36:25.568">
    <ac:txMkLst xmlns:ac="http://schemas.microsoft.com/office/drawing/2013/main/command">
      <pc:docMk xmlns:pc="http://schemas.microsoft.com/office/powerpoint/2013/main/command"/>
      <pc:sldMk xmlns:pc="http://schemas.microsoft.com/office/powerpoint/2013/main/command" cId="0" sldId="265"/>
      <ac:spMk id="5" creationId="{00000000-0000-0000-0000-000000000000}"/>
      <ac:txMk cp="173" len="134">
        <ac:context len="863" hash="2819985095"/>
      </ac:txMk>
    </ac:txMkLst>
    <p188:pos x="7466060" y="1485515"/>
    <p188:txBody>
      <a:bodyPr/>
      <a:lstStyle/>
      <a:p>
        <a:r>
          <a:rPr lang="en-US"/>
          <a:t>this is almost exact text as previous slide. Feels very repetitive so i would delete from here (or previous)</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1_0.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03_0.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5_0.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8_0.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09_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0A_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0C_5DE33F9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77240" y="1417320"/>
            <a:ext cx="1463040" cy="82296"/>
          </a:xfrm>
          <a:prstGeom prst="rect">
            <a:avLst/>
          </a:prstGeom>
          <a:solidFill>
            <a:srgbClr val="6F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737360"/>
            <a:ext cx="10424160" cy="2194560"/>
          </a:xfrm>
          <a:prstGeom prst="rect">
            <a:avLst/>
          </a:prstGeom>
          <a:noFill/>
        </p:spPr>
        <p:txBody>
          <a:bodyPr wrap="square">
            <a:spAutoFit/>
          </a:bodyPr>
          <a:lstStyle/>
          <a:p>
            <a:pPr algn="l">
              <a:spcBef>
                <a:spcPts val="0"/>
              </a:spcBef>
              <a:spcAft>
                <a:spcPts val="600"/>
              </a:spcAft>
            </a:pPr>
            <a:r>
              <a:rPr sz="4600" b="1">
                <a:solidFill>
                  <a:srgbClr val="FFFFFF"/>
                </a:solidFill>
                <a:latin typeface="Arial"/>
              </a:rPr>
              <a:t>Listening at the Fenceline</a:t>
            </a:r>
          </a:p>
          <a:p>
            <a:pPr>
              <a:spcBef>
                <a:spcPts val="0"/>
              </a:spcBef>
              <a:spcAft>
                <a:spcPts val="0"/>
              </a:spcAft>
            </a:pPr>
            <a:r>
              <a:rPr sz="2300" b="0">
                <a:solidFill>
                  <a:srgbClr val="BFD6E8"/>
                </a:solidFill>
                <a:latin typeface="Arial"/>
              </a:rPr>
              <a:t>Six months of continuous community noise monitoring in Howard County, Maryland</a:t>
            </a:r>
          </a:p>
        </p:txBody>
      </p:sp>
      <p:sp>
        <p:nvSpPr>
          <p:cNvPr id="5" name="TextBox 4"/>
          <p:cNvSpPr txBox="1"/>
          <p:nvPr/>
        </p:nvSpPr>
        <p:spPr>
          <a:xfrm>
            <a:off x="777240" y="4206240"/>
            <a:ext cx="10424160" cy="1518364"/>
          </a:xfrm>
          <a:prstGeom prst="rect">
            <a:avLst/>
          </a:prstGeom>
          <a:noFill/>
        </p:spPr>
        <p:txBody>
          <a:bodyPr wrap="square">
            <a:spAutoFit/>
          </a:bodyPr>
          <a:lstStyle/>
          <a:p>
            <a:pPr algn="l">
              <a:spcBef>
                <a:spcPts val="0"/>
              </a:spcBef>
              <a:spcAft>
                <a:spcPts val="300"/>
              </a:spcAft>
            </a:pPr>
            <a:r>
              <a:rPr sz="2000" b="1">
                <a:solidFill>
                  <a:srgbClr val="FFFFFF"/>
                </a:solidFill>
                <a:latin typeface="Arial"/>
              </a:rPr>
              <a:t>Chandra Prakash Choudhary</a:t>
            </a:r>
          </a:p>
          <a:p>
            <a:pPr>
              <a:spcAft>
                <a:spcPts val="300"/>
              </a:spcAft>
            </a:pPr>
            <a:r>
              <a:rPr lang="en-US" sz="1400">
                <a:solidFill>
                  <a:srgbClr val="FFFFFF"/>
                </a:solidFill>
                <a:latin typeface="Arial"/>
              </a:rPr>
              <a:t>MS, Geography and Environmental Engineering </a:t>
            </a:r>
            <a:r>
              <a:rPr lang="en-US" sz="1400">
                <a:solidFill>
                  <a:srgbClr val="BFD6E8"/>
                </a:solidFill>
                <a:latin typeface="Arial"/>
              </a:rPr>
              <a:t>· </a:t>
            </a:r>
            <a:r>
              <a:rPr lang="en-US" sz="1400">
                <a:solidFill>
                  <a:srgbClr val="FFFFFF"/>
                </a:solidFill>
                <a:latin typeface="Arial"/>
              </a:rPr>
              <a:t>Johns Hopkins University</a:t>
            </a:r>
          </a:p>
          <a:p>
            <a:pPr>
              <a:spcAft>
                <a:spcPts val="1400"/>
              </a:spcAft>
            </a:pPr>
            <a:r>
              <a:rPr lang="en-US" sz="1400">
                <a:solidFill>
                  <a:srgbClr val="BFD6E8"/>
                </a:solidFill>
                <a:latin typeface="Arial"/>
              </a:rPr>
              <a:t>with Dr. Ana María Rule  · Dr. Marsha Wills-Karp · Johns Hopkins Bloomberg School of Public Health</a:t>
            </a:r>
          </a:p>
          <a:p>
            <a:pPr>
              <a:spcBef>
                <a:spcPts val="0"/>
              </a:spcBef>
              <a:spcAft>
                <a:spcPts val="1000"/>
              </a:spcAft>
            </a:pPr>
            <a:r>
              <a:rPr sz="1400" b="0">
                <a:solidFill>
                  <a:srgbClr val="9FB8CD"/>
                </a:solidFill>
                <a:latin typeface="Arial"/>
              </a:rPr>
              <a:t>CEEJH Symposium · CHARMED Session II: Pilot Projects in Environmental Health Research</a:t>
            </a:r>
            <a:br>
              <a:rPr/>
            </a:br>
            <a:r>
              <a:rPr sz="1400" b="0">
                <a:solidFill>
                  <a:srgbClr val="9FB8CD"/>
                </a:solidFill>
                <a:latin typeface="Arial"/>
              </a:rPr>
              <a:t>Bowie State University · 19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a:spAutoFit/>
          </a:bodyPr>
          <a:lstStyle/>
          <a:p>
            <a:pPr algn="l">
              <a:spcBef>
                <a:spcPts val="0"/>
              </a:spcBef>
              <a:spcAft>
                <a:spcPts val="1000"/>
              </a:spcAft>
            </a:pPr>
            <a:r>
              <a:rPr sz="1250" b="1">
                <a:solidFill>
                  <a:srgbClr val="5A646E"/>
                </a:solidFill>
                <a:latin typeface="Arial"/>
              </a:rPr>
              <a:t>INTRODUCTION · 1 OF 3</a:t>
            </a:r>
          </a:p>
        </p:txBody>
      </p:sp>
      <p:sp>
        <p:nvSpPr>
          <p:cNvPr id="4" name="TextBox 3"/>
          <p:cNvSpPr txBox="1"/>
          <p:nvPr/>
        </p:nvSpPr>
        <p:spPr>
          <a:xfrm>
            <a:off x="640080" y="749808"/>
            <a:ext cx="10881360" cy="646331"/>
          </a:xfrm>
          <a:prstGeom prst="rect">
            <a:avLst/>
          </a:prstGeom>
          <a:noFill/>
        </p:spPr>
        <p:txBody>
          <a:bodyPr wrap="square" lIns="91440" tIns="45720" rIns="91440" bIns="45720" anchor="t">
            <a:spAutoFit/>
          </a:bodyPr>
          <a:lstStyle/>
          <a:p>
            <a:pPr algn="l">
              <a:spcBef>
                <a:spcPts val="0"/>
              </a:spcBef>
              <a:spcAft>
                <a:spcPts val="1000"/>
              </a:spcAft>
            </a:pPr>
            <a:r>
              <a:rPr sz="3600" b="1">
                <a:solidFill>
                  <a:srgbClr val="210AF2"/>
                </a:solidFill>
                <a:latin typeface="Arial"/>
              </a:rPr>
              <a:t>A community asked the question first</a:t>
            </a:r>
            <a:endParaRPr lang="en-US" sz="3600" b="1">
              <a:solidFill>
                <a:srgbClr val="210AF2"/>
              </a:solidFill>
              <a:latin typeface="Arial"/>
              <a:cs typeface="Arial"/>
            </a:endParaRPr>
          </a:p>
        </p:txBody>
      </p:sp>
      <p:sp>
        <p:nvSpPr>
          <p:cNvPr id="5" name="TextBox 4"/>
          <p:cNvSpPr txBox="1"/>
          <p:nvPr/>
        </p:nvSpPr>
        <p:spPr>
          <a:xfrm>
            <a:off x="777240" y="1711960"/>
            <a:ext cx="10607040" cy="4447371"/>
          </a:xfrm>
          <a:prstGeom prst="rect">
            <a:avLst/>
          </a:prstGeom>
          <a:noFill/>
        </p:spPr>
        <p:txBody>
          <a:bodyPr wrap="square" lIns="91440" tIns="45720" rIns="91440" bIns="45720" anchor="t">
            <a:spAutoFit/>
          </a:bodyPr>
          <a:lstStyle/>
          <a:p>
            <a:pPr>
              <a:spcAft>
                <a:spcPts val="200"/>
              </a:spcAft>
            </a:pPr>
            <a:r>
              <a:rPr sz="3200" b="1">
                <a:solidFill>
                  <a:srgbClr val="102A43"/>
                </a:solidFill>
                <a:latin typeface="Arial"/>
              </a:rPr>
              <a:t>Residents reported a </a:t>
            </a:r>
            <a:r>
              <a:rPr lang="en-US" sz="3200" b="1">
                <a:solidFill>
                  <a:srgbClr val="102A43"/>
                </a:solidFill>
                <a:latin typeface="Arial"/>
              </a:rPr>
              <a:t>sound that never stopped</a:t>
            </a:r>
            <a:r>
              <a:rPr sz="3200" b="1">
                <a:solidFill>
                  <a:srgbClr val="102A43"/>
                </a:solidFill>
                <a:latin typeface="Arial"/>
              </a:rPr>
              <a:t>.</a:t>
            </a:r>
          </a:p>
          <a:p>
            <a:pPr>
              <a:spcBef>
                <a:spcPts val="0"/>
              </a:spcBef>
              <a:spcAft>
                <a:spcPts val="0"/>
              </a:spcAft>
            </a:pPr>
            <a:r>
              <a:rPr sz="2000" b="0">
                <a:solidFill>
                  <a:srgbClr val="5A646E"/>
                </a:solidFill>
                <a:latin typeface="Arial"/>
              </a:rPr>
              <a:t>Not a truck passing. Still there at 3 a.m.</a:t>
            </a:r>
            <a:endParaRPr sz="2000" b="0">
              <a:solidFill>
                <a:srgbClr val="5A646E"/>
              </a:solidFill>
              <a:latin typeface="Arial"/>
              <a:cs typeface="Arial"/>
            </a:endParaRPr>
          </a:p>
          <a:p>
            <a:pPr>
              <a:spcBef>
                <a:spcPts val="3600"/>
              </a:spcBef>
              <a:spcAft>
                <a:spcPts val="200"/>
              </a:spcAft>
            </a:pPr>
            <a:r>
              <a:rPr sz="3200" b="1">
                <a:solidFill>
                  <a:srgbClr val="102A43"/>
                </a:solidFill>
                <a:latin typeface="Arial"/>
              </a:rPr>
              <a:t>A complaint without a measurement has nowhere to go.</a:t>
            </a:r>
            <a:endParaRPr sz="3200" b="1">
              <a:solidFill>
                <a:srgbClr val="102A43"/>
              </a:solidFill>
              <a:latin typeface="Arial"/>
              <a:cs typeface="Arial"/>
            </a:endParaRPr>
          </a:p>
          <a:p>
            <a:pPr>
              <a:spcBef>
                <a:spcPts val="0"/>
              </a:spcBef>
              <a:spcAft>
                <a:spcPts val="0"/>
              </a:spcAft>
            </a:pPr>
            <a:r>
              <a:rPr sz="2000" b="0">
                <a:solidFill>
                  <a:srgbClr val="5A646E"/>
                </a:solidFill>
                <a:latin typeface="Arial"/>
              </a:rPr>
              <a:t>By the time anyone arrives with a meter, the sound has changed.</a:t>
            </a:r>
            <a:endParaRPr sz="2000" b="0">
              <a:solidFill>
                <a:srgbClr val="5A646E"/>
              </a:solidFill>
              <a:latin typeface="Arial"/>
              <a:cs typeface="Arial"/>
            </a:endParaRPr>
          </a:p>
          <a:p>
            <a:pPr>
              <a:spcBef>
                <a:spcPts val="3600"/>
              </a:spcBef>
              <a:spcAft>
                <a:spcPts val="200"/>
              </a:spcAft>
            </a:pPr>
            <a:r>
              <a:rPr sz="3200" b="1">
                <a:solidFill>
                  <a:srgbClr val="102A43"/>
                </a:solidFill>
                <a:latin typeface="Arial"/>
              </a:rPr>
              <a:t>So four households hosted the instruments themselves.</a:t>
            </a:r>
            <a:endParaRPr sz="3200" b="1">
              <a:solidFill>
                <a:srgbClr val="102A43"/>
              </a:solidFill>
              <a:latin typeface="Arial"/>
              <a:cs typeface="Arial"/>
            </a:endParaRPr>
          </a:p>
          <a:p>
            <a:pPr>
              <a:spcBef>
                <a:spcPts val="0"/>
              </a:spcBef>
              <a:spcAft>
                <a:spcPts val="0"/>
              </a:spcAft>
            </a:pPr>
            <a:r>
              <a:rPr sz="2000" b="0">
                <a:solidFill>
                  <a:srgbClr val="5A646E"/>
                </a:solidFill>
                <a:latin typeface="Arial"/>
              </a:rPr>
              <a:t>A meter in the back yard, recording every second, for six months.</a:t>
            </a:r>
            <a:endParaRPr sz="2000" b="0">
              <a:solidFill>
                <a:srgbClr val="5A646E"/>
              </a:solidFill>
              <a:latin typeface="Arial"/>
              <a:cs typeface="Arial"/>
            </a:endParaRPr>
          </a:p>
        </p:txBody>
      </p:sp>
      <p:sp>
        <p:nvSpPr>
          <p:cNvPr id="6" name="TextBox 5"/>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2</a:t>
            </a:r>
          </a:p>
        </p:txBody>
      </p:sp>
    </p:spTree>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a:spAutoFit/>
          </a:bodyPr>
          <a:lstStyle/>
          <a:p>
            <a:pPr algn="l">
              <a:spcBef>
                <a:spcPts val="0"/>
              </a:spcBef>
              <a:spcAft>
                <a:spcPts val="1000"/>
              </a:spcAft>
            </a:pPr>
            <a:r>
              <a:rPr sz="1250" b="1">
                <a:solidFill>
                  <a:srgbClr val="5A646E"/>
                </a:solidFill>
                <a:latin typeface="Arial"/>
              </a:rPr>
              <a:t>INTRODUCTION · 2 OF 3</a:t>
            </a:r>
          </a:p>
        </p:txBody>
      </p:sp>
      <p:sp>
        <p:nvSpPr>
          <p:cNvPr id="4" name="TextBox 3"/>
          <p:cNvSpPr txBox="1"/>
          <p:nvPr/>
        </p:nvSpPr>
        <p:spPr>
          <a:xfrm>
            <a:off x="640080" y="749808"/>
            <a:ext cx="10881360" cy="646331"/>
          </a:xfrm>
          <a:prstGeom prst="rect">
            <a:avLst/>
          </a:prstGeom>
          <a:noFill/>
        </p:spPr>
        <p:txBody>
          <a:bodyPr wrap="square" lIns="91440" tIns="45720" rIns="91440" bIns="45720" anchor="t">
            <a:spAutoFit/>
          </a:bodyPr>
          <a:lstStyle/>
          <a:p>
            <a:pPr>
              <a:spcAft>
                <a:spcPts val="1000"/>
              </a:spcAft>
            </a:pPr>
            <a:r>
              <a:rPr sz="3600" b="1">
                <a:solidFill>
                  <a:srgbClr val="210AF2"/>
                </a:solidFill>
                <a:latin typeface="Arial"/>
              </a:rPr>
              <a:t>Noise is a </a:t>
            </a:r>
            <a:r>
              <a:rPr lang="en-US" sz="3600" b="1">
                <a:solidFill>
                  <a:srgbClr val="210AF2"/>
                </a:solidFill>
                <a:latin typeface="Arial"/>
              </a:rPr>
              <a:t>health-relevant</a:t>
            </a:r>
            <a:r>
              <a:rPr sz="3600" b="1">
                <a:solidFill>
                  <a:srgbClr val="210AF2"/>
                </a:solidFill>
                <a:latin typeface="Arial"/>
              </a:rPr>
              <a:t> exposure</a:t>
            </a:r>
            <a:endParaRPr lang="en-US" sz="3600" b="1">
              <a:solidFill>
                <a:srgbClr val="210AF2"/>
              </a:solidFill>
              <a:latin typeface="Arial"/>
              <a:cs typeface="Arial"/>
            </a:endParaRPr>
          </a:p>
        </p:txBody>
      </p:sp>
      <p:sp>
        <p:nvSpPr>
          <p:cNvPr id="5" name="TextBox 4"/>
          <p:cNvSpPr txBox="1"/>
          <p:nvPr/>
        </p:nvSpPr>
        <p:spPr>
          <a:xfrm>
            <a:off x="777240" y="1712883"/>
            <a:ext cx="10607040" cy="4201150"/>
          </a:xfrm>
          <a:prstGeom prst="rect">
            <a:avLst/>
          </a:prstGeom>
          <a:noFill/>
        </p:spPr>
        <p:txBody>
          <a:bodyPr wrap="square" lIns="91440" tIns="45720" rIns="91440" bIns="45720" anchor="t">
            <a:spAutoFit/>
          </a:bodyPr>
          <a:lstStyle/>
          <a:p>
            <a:pPr>
              <a:spcAft>
                <a:spcPts val="200"/>
              </a:spcAft>
            </a:pPr>
            <a:r>
              <a:rPr sz="2800" b="1">
                <a:solidFill>
                  <a:srgbClr val="102A43"/>
                </a:solidFill>
                <a:latin typeface="Arial"/>
              </a:rPr>
              <a:t>Night noise disturbs sleep even </a:t>
            </a:r>
            <a:r>
              <a:rPr lang="en-US" sz="2800" b="1">
                <a:solidFill>
                  <a:srgbClr val="102A43"/>
                </a:solidFill>
                <a:latin typeface="Arial"/>
              </a:rPr>
              <a:t>if it doesn't</a:t>
            </a:r>
            <a:r>
              <a:rPr sz="2800" b="1">
                <a:solidFill>
                  <a:srgbClr val="102A43"/>
                </a:solidFill>
                <a:latin typeface="Arial"/>
              </a:rPr>
              <a:t> wake</a:t>
            </a:r>
            <a:r>
              <a:rPr lang="en-US" sz="2800" b="1">
                <a:solidFill>
                  <a:srgbClr val="102A43"/>
                </a:solidFill>
                <a:latin typeface="Arial"/>
              </a:rPr>
              <a:t> you up</a:t>
            </a:r>
            <a:r>
              <a:rPr sz="2800" b="1">
                <a:solidFill>
                  <a:srgbClr val="102A43"/>
                </a:solidFill>
                <a:latin typeface="Arial"/>
              </a:rPr>
              <a:t>.</a:t>
            </a:r>
          </a:p>
          <a:p>
            <a:pPr>
              <a:spcBef>
                <a:spcPts val="0"/>
              </a:spcBef>
              <a:spcAft>
                <a:spcPts val="0"/>
              </a:spcAft>
            </a:pPr>
            <a:r>
              <a:rPr sz="2000" b="0">
                <a:solidFill>
                  <a:srgbClr val="5A646E"/>
                </a:solidFill>
                <a:latin typeface="Arial"/>
              </a:rPr>
              <a:t>The body still responds. WHO set its 45 dB night guideline on that evidence. (2018)</a:t>
            </a:r>
            <a:endParaRPr sz="2000" b="0">
              <a:solidFill>
                <a:srgbClr val="5A646E"/>
              </a:solidFill>
              <a:latin typeface="Arial"/>
              <a:cs typeface="Arial"/>
            </a:endParaRPr>
          </a:p>
          <a:p>
            <a:pPr>
              <a:spcBef>
                <a:spcPts val="3000"/>
              </a:spcBef>
              <a:spcAft>
                <a:spcPts val="200"/>
              </a:spcAft>
            </a:pPr>
            <a:r>
              <a:rPr sz="2800" b="1">
                <a:solidFill>
                  <a:srgbClr val="102A43"/>
                </a:solidFill>
                <a:latin typeface="Arial"/>
              </a:rPr>
              <a:t>Long-term night noise is linked to high blood pressure and heart disease.</a:t>
            </a:r>
            <a:endParaRPr sz="2800" b="1">
              <a:solidFill>
                <a:srgbClr val="102A43"/>
              </a:solidFill>
              <a:latin typeface="Arial"/>
              <a:cs typeface="Arial"/>
            </a:endParaRPr>
          </a:p>
          <a:p>
            <a:pPr>
              <a:spcBef>
                <a:spcPts val="0"/>
              </a:spcBef>
              <a:spcAft>
                <a:spcPts val="0"/>
              </a:spcAft>
            </a:pPr>
            <a:r>
              <a:rPr sz="2000" b="0">
                <a:solidFill>
                  <a:srgbClr val="5A646E"/>
                </a:solidFill>
                <a:latin typeface="Arial"/>
              </a:rPr>
              <a:t>WHO Europe: at least a million healthy life-years lost each year in Western Europe. (2011)</a:t>
            </a:r>
            <a:endParaRPr sz="2000" b="0">
              <a:solidFill>
                <a:srgbClr val="5A646E"/>
              </a:solidFill>
              <a:latin typeface="Arial"/>
              <a:cs typeface="Arial"/>
            </a:endParaRPr>
          </a:p>
          <a:p>
            <a:pPr>
              <a:spcBef>
                <a:spcPts val="3000"/>
              </a:spcBef>
              <a:spcAft>
                <a:spcPts val="200"/>
              </a:spcAft>
            </a:pPr>
            <a:r>
              <a:rPr sz="2800" b="1">
                <a:solidFill>
                  <a:srgbClr val="102A43"/>
                </a:solidFill>
                <a:latin typeface="Arial"/>
              </a:rPr>
              <a:t>The exposure is not shared fairly, and it is </a:t>
            </a:r>
            <a:r>
              <a:rPr lang="en-US" sz="2800" b="1">
                <a:solidFill>
                  <a:srgbClr val="102A43"/>
                </a:solidFill>
                <a:latin typeface="Arial"/>
              </a:rPr>
              <a:t>rarely</a:t>
            </a:r>
            <a:r>
              <a:rPr sz="2800" b="1">
                <a:solidFill>
                  <a:srgbClr val="102A43"/>
                </a:solidFill>
                <a:latin typeface="Arial"/>
              </a:rPr>
              <a:t> measured.</a:t>
            </a:r>
            <a:endParaRPr sz="2800" b="1">
              <a:solidFill>
                <a:srgbClr val="102A43"/>
              </a:solidFill>
              <a:latin typeface="Arial"/>
              <a:cs typeface="Arial"/>
            </a:endParaRPr>
          </a:p>
          <a:p>
            <a:pPr marL="342900" indent="-342900">
              <a:buFont typeface="Arial"/>
              <a:buChar char="•"/>
            </a:pPr>
            <a:r>
              <a:rPr sz="2000" b="0">
                <a:solidFill>
                  <a:srgbClr val="5A646E"/>
                </a:solidFill>
                <a:latin typeface="Arial"/>
              </a:rPr>
              <a:t>Industry and highways </a:t>
            </a:r>
            <a:r>
              <a:rPr lang="en-US" sz="2000">
                <a:solidFill>
                  <a:srgbClr val="5A646E"/>
                </a:solidFill>
                <a:latin typeface="Arial"/>
              </a:rPr>
              <a:t>are located disproportionately</a:t>
            </a:r>
            <a:r>
              <a:rPr sz="2000" b="0">
                <a:solidFill>
                  <a:srgbClr val="5A646E"/>
                </a:solidFill>
                <a:latin typeface="Arial"/>
              </a:rPr>
              <a:t> </a:t>
            </a:r>
            <a:r>
              <a:rPr lang="en-US" sz="2000">
                <a:solidFill>
                  <a:srgbClr val="5A646E"/>
                </a:solidFill>
                <a:latin typeface="Arial"/>
              </a:rPr>
              <a:t>in </a:t>
            </a:r>
            <a:r>
              <a:rPr sz="2000" b="0">
                <a:solidFill>
                  <a:srgbClr val="5A646E"/>
                </a:solidFill>
                <a:latin typeface="Arial"/>
              </a:rPr>
              <a:t>lower-income and minority </a:t>
            </a:r>
            <a:r>
              <a:rPr sz="2000" b="0" err="1">
                <a:solidFill>
                  <a:srgbClr val="5A646E"/>
                </a:solidFill>
                <a:latin typeface="Arial"/>
              </a:rPr>
              <a:t>neighbourhoods</a:t>
            </a:r>
            <a:r>
              <a:rPr sz="2000" b="0">
                <a:solidFill>
                  <a:srgbClr val="5A646E"/>
                </a:solidFill>
                <a:latin typeface="Arial"/>
              </a:rPr>
              <a:t>. </a:t>
            </a:r>
            <a:endParaRPr lang="en-US" sz="2000">
              <a:solidFill>
                <a:srgbClr val="5A646E"/>
              </a:solidFill>
              <a:latin typeface="Arial"/>
              <a:cs typeface="Arial"/>
            </a:endParaRPr>
          </a:p>
          <a:p>
            <a:pPr marL="342900" indent="-342900">
              <a:spcBef>
                <a:spcPts val="0"/>
              </a:spcBef>
              <a:spcAft>
                <a:spcPts val="0"/>
              </a:spcAft>
              <a:buFont typeface="Arial"/>
              <a:buChar char="•"/>
            </a:pPr>
            <a:r>
              <a:rPr sz="2000" b="0">
                <a:solidFill>
                  <a:srgbClr val="5A646E"/>
                </a:solidFill>
                <a:latin typeface="Arial"/>
              </a:rPr>
              <a:t>Air and water have monitoring networks; community noise has almost none.</a:t>
            </a:r>
            <a:endParaRPr sz="2000" b="0">
              <a:solidFill>
                <a:srgbClr val="5A646E"/>
              </a:solidFill>
              <a:latin typeface="Arial"/>
              <a:cs typeface="Arial"/>
            </a:endParaRPr>
          </a:p>
        </p:txBody>
      </p:sp>
      <p:sp>
        <p:nvSpPr>
          <p:cNvPr id="6" name="TextBox 5"/>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a:spAutoFit/>
          </a:bodyPr>
          <a:lstStyle/>
          <a:p>
            <a:pPr algn="l">
              <a:spcBef>
                <a:spcPts val="0"/>
              </a:spcBef>
              <a:spcAft>
                <a:spcPts val="1000"/>
              </a:spcAft>
            </a:pPr>
            <a:r>
              <a:rPr sz="1250" b="1">
                <a:solidFill>
                  <a:srgbClr val="5A646E"/>
                </a:solidFill>
                <a:latin typeface="Arial"/>
              </a:rPr>
              <a:t>INTRODUCTION · 3 OF 3</a:t>
            </a:r>
          </a:p>
        </p:txBody>
      </p:sp>
      <p:sp>
        <p:nvSpPr>
          <p:cNvPr id="4" name="TextBox 3"/>
          <p:cNvSpPr txBox="1"/>
          <p:nvPr/>
        </p:nvSpPr>
        <p:spPr>
          <a:xfrm>
            <a:off x="640080" y="749808"/>
            <a:ext cx="10881360" cy="569387"/>
          </a:xfrm>
          <a:prstGeom prst="rect">
            <a:avLst/>
          </a:prstGeom>
          <a:noFill/>
        </p:spPr>
        <p:txBody>
          <a:bodyPr wrap="square" lIns="91440" tIns="45720" rIns="91440" bIns="45720" anchor="t">
            <a:spAutoFit/>
          </a:bodyPr>
          <a:lstStyle/>
          <a:p>
            <a:pPr>
              <a:spcAft>
                <a:spcPts val="1000"/>
              </a:spcAft>
            </a:pPr>
            <a:r>
              <a:rPr sz="3100" b="1">
                <a:solidFill>
                  <a:srgbClr val="102A43"/>
                </a:solidFill>
                <a:latin typeface="Arial"/>
              </a:rPr>
              <a:t>Why we measure </a:t>
            </a:r>
            <a:r>
              <a:rPr sz="3100" b="1" err="1">
                <a:solidFill>
                  <a:srgbClr val="102A43"/>
                </a:solidFill>
                <a:latin typeface="Arial"/>
              </a:rPr>
              <a:t>Lₑ</a:t>
            </a:r>
            <a:r>
              <a:rPr sz="2000" b="1" err="1">
                <a:solidFill>
                  <a:srgbClr val="102A43"/>
                </a:solidFill>
                <a:latin typeface="Arial"/>
              </a:rPr>
              <a:t>q</a:t>
            </a:r>
            <a:r>
              <a:rPr sz="3100" b="1">
                <a:solidFill>
                  <a:srgbClr val="102A43"/>
                </a:solidFill>
                <a:latin typeface="Arial"/>
              </a:rPr>
              <a:t>, and why </a:t>
            </a:r>
            <a:r>
              <a:rPr lang="en-US" sz="3100" b="1">
                <a:solidFill>
                  <a:srgbClr val="102A43"/>
                </a:solidFill>
                <a:latin typeface="Arial"/>
              </a:rPr>
              <a:t>we propose the use of L</a:t>
            </a:r>
            <a:r>
              <a:rPr lang="en-US" sz="2000" b="1">
                <a:solidFill>
                  <a:srgbClr val="102A43"/>
                </a:solidFill>
                <a:latin typeface="Arial"/>
              </a:rPr>
              <a:t>90</a:t>
            </a:r>
            <a:r>
              <a:rPr sz="3100" b="1">
                <a:solidFill>
                  <a:srgbClr val="102A43"/>
                </a:solidFill>
                <a:latin typeface="Arial"/>
              </a:rPr>
              <a:t> </a:t>
            </a:r>
            <a:endParaRPr lang="en-US" sz="3100" b="1">
              <a:solidFill>
                <a:srgbClr val="102A43"/>
              </a:solidFill>
              <a:latin typeface="Arial"/>
              <a:cs typeface="Arial"/>
            </a:endParaRPr>
          </a:p>
        </p:txBody>
      </p:sp>
      <p:sp>
        <p:nvSpPr>
          <p:cNvPr id="5" name="Rectangle 4"/>
          <p:cNvSpPr/>
          <p:nvPr/>
        </p:nvSpPr>
        <p:spPr>
          <a:xfrm>
            <a:off x="777240" y="1691640"/>
            <a:ext cx="5120640" cy="30632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2000">
              <a:ea typeface="Calibri"/>
              <a:cs typeface="Calibri"/>
            </a:endParaRPr>
          </a:p>
        </p:txBody>
      </p:sp>
      <p:sp>
        <p:nvSpPr>
          <p:cNvPr id="6" name="Rectangle 5"/>
          <p:cNvSpPr/>
          <p:nvPr/>
        </p:nvSpPr>
        <p:spPr>
          <a:xfrm>
            <a:off x="777240" y="1691640"/>
            <a:ext cx="5120640" cy="64008"/>
          </a:xfrm>
          <a:prstGeom prst="rect">
            <a:avLst/>
          </a:prstGeom>
          <a:solidFill>
            <a:srgbClr val="5A6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750" y="1901952"/>
            <a:ext cx="4695613" cy="2318583"/>
          </a:xfrm>
          <a:prstGeom prst="rect">
            <a:avLst/>
          </a:prstGeom>
          <a:noFill/>
        </p:spPr>
        <p:txBody>
          <a:bodyPr wrap="square" lIns="91440" tIns="45720" rIns="91440" bIns="45720" anchor="t">
            <a:spAutoFit/>
          </a:bodyPr>
          <a:lstStyle/>
          <a:p>
            <a:pPr>
              <a:spcAft>
                <a:spcPts val="1200"/>
              </a:spcAft>
            </a:pPr>
            <a:r>
              <a:rPr lang="en-US" sz="2800" b="1" err="1">
                <a:latin typeface="Arial"/>
              </a:rPr>
              <a:t>Leq</a:t>
            </a:r>
            <a:r>
              <a:rPr lang="en-US" sz="2800" b="1">
                <a:latin typeface="Arial"/>
              </a:rPr>
              <a:t> – the average</a:t>
            </a:r>
            <a:endParaRPr lang="en-US" sz="2800" b="1">
              <a:latin typeface="Arial"/>
              <a:cs typeface="Arial"/>
            </a:endParaRPr>
          </a:p>
          <a:p>
            <a:pPr>
              <a:spcAft>
                <a:spcPts val="800"/>
              </a:spcAft>
            </a:pPr>
            <a:r>
              <a:rPr lang="en-US" sz="2000" b="1">
                <a:solidFill>
                  <a:srgbClr val="1A1A1A"/>
                </a:solidFill>
                <a:latin typeface="Arial"/>
              </a:rPr>
              <a:t>All existing guidelines and regulations are based on </a:t>
            </a:r>
            <a:r>
              <a:rPr lang="en-US" sz="2000" b="1" err="1">
                <a:solidFill>
                  <a:srgbClr val="1A1A1A"/>
                </a:solidFill>
                <a:latin typeface="Arial"/>
              </a:rPr>
              <a:t>Leq</a:t>
            </a:r>
            <a:r>
              <a:rPr lang="en-US" sz="2000" b="1">
                <a:solidFill>
                  <a:srgbClr val="1A1A1A"/>
                </a:solidFill>
                <a:latin typeface="Arial"/>
              </a:rPr>
              <a:t>.</a:t>
            </a:r>
            <a:endParaRPr lang="en-US" sz="2000">
              <a:ea typeface="Calibri"/>
              <a:cs typeface="Calibri"/>
            </a:endParaRPr>
          </a:p>
          <a:p>
            <a:r>
              <a:rPr lang="en-US" sz="2000">
                <a:solidFill>
                  <a:srgbClr val="1A1A1A"/>
                </a:solidFill>
                <a:latin typeface="Arial"/>
              </a:rPr>
              <a:t>But </a:t>
            </a:r>
            <a:r>
              <a:rPr lang="en-US" sz="2000" err="1">
                <a:solidFill>
                  <a:srgbClr val="1A1A1A"/>
                </a:solidFill>
                <a:latin typeface="Arial"/>
              </a:rPr>
              <a:t>Leq</a:t>
            </a:r>
            <a:r>
              <a:rPr lang="en-US" sz="2000">
                <a:solidFill>
                  <a:srgbClr val="1A1A1A"/>
                </a:solidFill>
                <a:latin typeface="Arial"/>
              </a:rPr>
              <a:t> </a:t>
            </a:r>
            <a:r>
              <a:rPr sz="2000" b="0">
                <a:solidFill>
                  <a:srgbClr val="1A1A1A"/>
                </a:solidFill>
                <a:latin typeface="Arial"/>
              </a:rPr>
              <a:t>is an energy average: one dog, one siren, one passing truck can carry a whole night.</a:t>
            </a:r>
            <a:endParaRPr sz="2000" b="0">
              <a:solidFill>
                <a:srgbClr val="1A1A1A"/>
              </a:solidFill>
              <a:latin typeface="Arial"/>
              <a:cs typeface="Arial"/>
            </a:endParaRPr>
          </a:p>
        </p:txBody>
      </p:sp>
      <p:sp>
        <p:nvSpPr>
          <p:cNvPr id="8" name="Rectangle 7"/>
          <p:cNvSpPr/>
          <p:nvPr/>
        </p:nvSpPr>
        <p:spPr>
          <a:xfrm>
            <a:off x="6309360" y="1691640"/>
            <a:ext cx="5120640" cy="3063240"/>
          </a:xfrm>
          <a:prstGeom prst="rect">
            <a:avLst/>
          </a:prstGeom>
          <a:solidFill>
            <a:srgbClr val="EC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691640"/>
            <a:ext cx="5120640" cy="640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11112" y="1901952"/>
            <a:ext cx="4803370" cy="2318583"/>
          </a:xfrm>
          <a:prstGeom prst="rect">
            <a:avLst/>
          </a:prstGeom>
          <a:noFill/>
        </p:spPr>
        <p:txBody>
          <a:bodyPr wrap="square" lIns="91440" tIns="45720" rIns="91440" bIns="45720" anchor="t">
            <a:spAutoFit/>
          </a:bodyPr>
          <a:lstStyle/>
          <a:p>
            <a:pPr algn="l">
              <a:spcBef>
                <a:spcPts val="0"/>
              </a:spcBef>
              <a:spcAft>
                <a:spcPts val="1200"/>
              </a:spcAft>
            </a:pPr>
            <a:r>
              <a:rPr sz="2800" b="1">
                <a:solidFill>
                  <a:srgbClr val="1F77B4"/>
                </a:solidFill>
                <a:latin typeface="Arial"/>
              </a:rPr>
              <a:t>L90: the background floor</a:t>
            </a:r>
            <a:endParaRPr lang="en-US" sz="2800" b="1">
              <a:solidFill>
                <a:srgbClr val="1F77B4"/>
              </a:solidFill>
              <a:latin typeface="Arial"/>
              <a:cs typeface="Arial"/>
            </a:endParaRPr>
          </a:p>
          <a:p>
            <a:pPr>
              <a:spcBef>
                <a:spcPts val="0"/>
              </a:spcBef>
              <a:spcAft>
                <a:spcPts val="800"/>
              </a:spcAft>
            </a:pPr>
            <a:r>
              <a:rPr sz="2000" b="1">
                <a:solidFill>
                  <a:srgbClr val="1A1A1A"/>
                </a:solidFill>
                <a:latin typeface="Arial"/>
              </a:rPr>
              <a:t>The level the sound stays above 90% of the time.</a:t>
            </a:r>
            <a:endParaRPr sz="2000" b="1">
              <a:solidFill>
                <a:srgbClr val="1A1A1A"/>
              </a:solidFill>
              <a:latin typeface="Arial"/>
              <a:cs typeface="Arial"/>
            </a:endParaRPr>
          </a:p>
          <a:p>
            <a:pPr>
              <a:spcBef>
                <a:spcPts val="0"/>
              </a:spcBef>
              <a:spcAft>
                <a:spcPts val="0"/>
              </a:spcAft>
            </a:pPr>
            <a:r>
              <a:rPr sz="2000" b="0">
                <a:solidFill>
                  <a:srgbClr val="1A1A1A"/>
                </a:solidFill>
                <a:latin typeface="Arial"/>
              </a:rPr>
              <a:t>Passing events cannot move it. It shows what is always there, which is what a source that never switches off changes.</a:t>
            </a:r>
            <a:endParaRPr sz="2000" b="0">
              <a:solidFill>
                <a:srgbClr val="1A1A1A"/>
              </a:solidFill>
              <a:latin typeface="Arial"/>
              <a:cs typeface="Arial"/>
            </a:endParaRPr>
          </a:p>
        </p:txBody>
      </p:sp>
      <p:sp>
        <p:nvSpPr>
          <p:cNvPr id="11" name="TextBox 10"/>
          <p:cNvSpPr txBox="1"/>
          <p:nvPr/>
        </p:nvSpPr>
        <p:spPr>
          <a:xfrm>
            <a:off x="777240" y="4983480"/>
            <a:ext cx="10607040" cy="1600438"/>
          </a:xfrm>
          <a:prstGeom prst="rect">
            <a:avLst/>
          </a:prstGeom>
          <a:noFill/>
        </p:spPr>
        <p:txBody>
          <a:bodyPr wrap="square" lIns="91440" tIns="45720" rIns="91440" bIns="45720" anchor="t">
            <a:spAutoFit/>
          </a:bodyPr>
          <a:lstStyle/>
          <a:p>
            <a:pPr>
              <a:spcAft>
                <a:spcPts val="1200"/>
              </a:spcAft>
            </a:pPr>
            <a:r>
              <a:rPr sz="2000" b="1">
                <a:solidFill>
                  <a:srgbClr val="102A43"/>
                </a:solidFill>
                <a:latin typeface="Arial"/>
              </a:rPr>
              <a:t>A </a:t>
            </a:r>
            <a:r>
              <a:rPr lang="en-US" sz="2000" b="1">
                <a:solidFill>
                  <a:srgbClr val="102A43"/>
                </a:solidFill>
                <a:latin typeface="Arial"/>
              </a:rPr>
              <a:t>normal </a:t>
            </a:r>
            <a:r>
              <a:rPr sz="2000" b="1" err="1">
                <a:solidFill>
                  <a:srgbClr val="102A43"/>
                </a:solidFill>
                <a:latin typeface="Arial"/>
              </a:rPr>
              <a:t>neighbourhood's</a:t>
            </a:r>
            <a:r>
              <a:rPr lang="en-US" sz="2000" b="1">
                <a:solidFill>
                  <a:srgbClr val="102A43"/>
                </a:solidFill>
                <a:latin typeface="Arial"/>
              </a:rPr>
              <a:t> background floor</a:t>
            </a:r>
            <a:r>
              <a:rPr sz="2000" b="1">
                <a:solidFill>
                  <a:srgbClr val="102A43"/>
                </a:solidFill>
                <a:latin typeface="Arial"/>
              </a:rPr>
              <a:t> drops sharply after dark. A home </a:t>
            </a:r>
            <a:r>
              <a:rPr lang="en-US" sz="2000" b="1">
                <a:solidFill>
                  <a:srgbClr val="102A43"/>
                </a:solidFill>
                <a:latin typeface="Arial"/>
              </a:rPr>
              <a:t>by a source that</a:t>
            </a:r>
            <a:r>
              <a:rPr sz="2000" b="1">
                <a:solidFill>
                  <a:srgbClr val="102A43"/>
                </a:solidFill>
                <a:latin typeface="Arial"/>
              </a:rPr>
              <a:t> </a:t>
            </a:r>
            <a:r>
              <a:rPr lang="en-US" sz="2000" b="1">
                <a:solidFill>
                  <a:srgbClr val="102A43"/>
                </a:solidFill>
                <a:latin typeface="Arial"/>
              </a:rPr>
              <a:t>operates </a:t>
            </a:r>
            <a:r>
              <a:rPr sz="2000" b="1">
                <a:solidFill>
                  <a:srgbClr val="102A43"/>
                </a:solidFill>
                <a:latin typeface="Arial"/>
              </a:rPr>
              <a:t>all night has no such drop. That </a:t>
            </a:r>
            <a:r>
              <a:rPr lang="en-US" sz="2000" b="1">
                <a:solidFill>
                  <a:srgbClr val="102A43"/>
                </a:solidFill>
                <a:latin typeface="Arial"/>
              </a:rPr>
              <a:t>day-night drop</a:t>
            </a:r>
            <a:r>
              <a:rPr sz="2000" b="1">
                <a:solidFill>
                  <a:srgbClr val="102A43"/>
                </a:solidFill>
                <a:latin typeface="Arial"/>
              </a:rPr>
              <a:t> is the measurement.</a:t>
            </a:r>
            <a:endParaRPr lang="en-US" sz="2000" b="1">
              <a:solidFill>
                <a:srgbClr val="102A43"/>
              </a:solidFill>
              <a:latin typeface="Arial"/>
              <a:cs typeface="Arial"/>
            </a:endParaRPr>
          </a:p>
          <a:p>
            <a:pPr>
              <a:spcBef>
                <a:spcPts val="0"/>
              </a:spcBef>
              <a:spcAft>
                <a:spcPts val="1000"/>
              </a:spcAft>
            </a:pPr>
            <a:r>
              <a:rPr sz="1400" b="0">
                <a:solidFill>
                  <a:srgbClr val="C05300"/>
                </a:solidFill>
                <a:latin typeface="Arial"/>
              </a:rPr>
              <a:t>Decibels are logarithmic: 60 dB + 60 dB = 63 dB.  +3 dB is twice the sound energy; +10 dB sounds about twice as loud.  All values A-weighted.</a:t>
            </a:r>
            <a:endParaRPr sz="1400" b="0">
              <a:solidFill>
                <a:srgbClr val="C05300"/>
              </a:solidFill>
              <a:latin typeface="Arial"/>
              <a:cs typeface="Arial"/>
            </a:endParaRPr>
          </a:p>
        </p:txBody>
      </p:sp>
      <p:sp>
        <p:nvSpPr>
          <p:cNvPr id="12" name="TextBox 11"/>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4</a:t>
            </a:r>
          </a:p>
        </p:txBody>
      </p:sp>
    </p:spTree>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a:spAutoFit/>
          </a:bodyPr>
          <a:lstStyle/>
          <a:p>
            <a:pPr algn="l">
              <a:spcBef>
                <a:spcPts val="0"/>
              </a:spcBef>
              <a:spcAft>
                <a:spcPts val="1000"/>
              </a:spcAft>
            </a:pPr>
            <a:r>
              <a:rPr sz="1250" b="1">
                <a:solidFill>
                  <a:srgbClr val="5A646E"/>
                </a:solidFill>
                <a:latin typeface="Arial"/>
              </a:rPr>
              <a:t>METHODS · 1 OF 2</a:t>
            </a:r>
          </a:p>
        </p:txBody>
      </p:sp>
      <p:sp>
        <p:nvSpPr>
          <p:cNvPr id="4" name="TextBox 3"/>
          <p:cNvSpPr txBox="1"/>
          <p:nvPr/>
        </p:nvSpPr>
        <p:spPr>
          <a:xfrm>
            <a:off x="640080" y="749808"/>
            <a:ext cx="10881360" cy="777240"/>
          </a:xfrm>
          <a:prstGeom prst="rect">
            <a:avLst/>
          </a:prstGeom>
          <a:noFill/>
        </p:spPr>
        <p:txBody>
          <a:bodyPr wrap="square">
            <a:spAutoFit/>
          </a:bodyPr>
          <a:lstStyle/>
          <a:p>
            <a:pPr algn="l">
              <a:spcBef>
                <a:spcPts val="0"/>
              </a:spcBef>
              <a:spcAft>
                <a:spcPts val="1000"/>
              </a:spcAft>
            </a:pPr>
            <a:r>
              <a:rPr sz="3100" b="1">
                <a:solidFill>
                  <a:srgbClr val="102A43"/>
                </a:solidFill>
                <a:latin typeface="Arial"/>
              </a:rPr>
              <a:t>Where we measured</a:t>
            </a:r>
          </a:p>
        </p:txBody>
      </p:sp>
      <p:pic>
        <p:nvPicPr>
          <p:cNvPr id="5" name="Picture 4" descr="fig_real_map.png"/>
          <p:cNvPicPr>
            <a:picLocks noChangeAspect="1"/>
          </p:cNvPicPr>
          <p:nvPr/>
        </p:nvPicPr>
        <p:blipFill>
          <a:blip r:embed="rId2"/>
          <a:stretch>
            <a:fillRect/>
          </a:stretch>
        </p:blipFill>
        <p:spPr>
          <a:xfrm>
            <a:off x="1295805" y="1298448"/>
            <a:ext cx="9600083" cy="4389119"/>
          </a:xfrm>
          <a:prstGeom prst="rect">
            <a:avLst/>
          </a:prstGeom>
        </p:spPr>
      </p:pic>
      <p:sp>
        <p:nvSpPr>
          <p:cNvPr id="6" name="TextBox 5"/>
          <p:cNvSpPr txBox="1"/>
          <p:nvPr/>
        </p:nvSpPr>
        <p:spPr>
          <a:xfrm>
            <a:off x="685800" y="5760720"/>
            <a:ext cx="10881360" cy="818173"/>
          </a:xfrm>
          <a:prstGeom prst="rect">
            <a:avLst/>
          </a:prstGeom>
          <a:noFill/>
        </p:spPr>
        <p:txBody>
          <a:bodyPr wrap="square" lIns="91440" tIns="45720" rIns="91440" bIns="45720" anchor="t">
            <a:spAutoFit/>
          </a:bodyPr>
          <a:lstStyle/>
          <a:p>
            <a:pPr>
              <a:spcAft>
                <a:spcPts val="500"/>
              </a:spcAft>
            </a:pPr>
            <a:r>
              <a:rPr sz="1500" b="1">
                <a:solidFill>
                  <a:srgbClr val="102A43"/>
                </a:solidFill>
                <a:latin typeface="Arial"/>
              </a:rPr>
              <a:t>Three homes at the fenceline  ·  one reference home about 2 miles away  ·  all four a similar distance from Rt 32  · </a:t>
            </a:r>
            <a:r>
              <a:rPr lang="en-US" sz="1500" b="1">
                <a:solidFill>
                  <a:srgbClr val="102A43"/>
                </a:solidFill>
                <a:latin typeface="Arial"/>
              </a:rPr>
              <a:t>Noise measurements collected from 1</a:t>
            </a:r>
            <a:r>
              <a:rPr sz="1500" b="1">
                <a:solidFill>
                  <a:srgbClr val="102A43"/>
                </a:solidFill>
                <a:latin typeface="Arial"/>
              </a:rPr>
              <a:t> March – 31 August 2026, continuous</a:t>
            </a:r>
          </a:p>
          <a:p>
            <a:pPr>
              <a:spcBef>
                <a:spcPts val="0"/>
              </a:spcBef>
              <a:spcAft>
                <a:spcPts val="1000"/>
              </a:spcAft>
            </a:pPr>
            <a:r>
              <a:rPr sz="1300" b="0">
                <a:solidFill>
                  <a:srgbClr val="5A646E"/>
                </a:solidFill>
                <a:latin typeface="Arial"/>
              </a:rPr>
              <a:t>The reference home is what makes the other numbers mean anything: without it, “48 dB at night” cannot be judged high or ordinary for this region.</a:t>
            </a:r>
            <a:endParaRPr sz="1300" b="0">
              <a:solidFill>
                <a:srgbClr val="5A646E"/>
              </a:solidFill>
              <a:latin typeface="Arial"/>
              <a:cs typeface="Arial"/>
            </a:endParaRPr>
          </a:p>
        </p:txBody>
      </p:sp>
      <p:sp>
        <p:nvSpPr>
          <p:cNvPr id="7" name="TextBox 6"/>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a:spAutoFit/>
          </a:bodyPr>
          <a:lstStyle/>
          <a:p>
            <a:pPr algn="l">
              <a:spcBef>
                <a:spcPts val="0"/>
              </a:spcBef>
              <a:spcAft>
                <a:spcPts val="1000"/>
              </a:spcAft>
            </a:pPr>
            <a:r>
              <a:rPr sz="1250" b="1">
                <a:solidFill>
                  <a:srgbClr val="5A646E"/>
                </a:solidFill>
                <a:latin typeface="Arial"/>
              </a:rPr>
              <a:t>METHODS · 2 OF 2</a:t>
            </a:r>
          </a:p>
        </p:txBody>
      </p:sp>
      <p:sp>
        <p:nvSpPr>
          <p:cNvPr id="4" name="TextBox 3"/>
          <p:cNvSpPr txBox="1"/>
          <p:nvPr/>
        </p:nvSpPr>
        <p:spPr>
          <a:xfrm>
            <a:off x="640080" y="749808"/>
            <a:ext cx="10881360" cy="777240"/>
          </a:xfrm>
          <a:prstGeom prst="rect">
            <a:avLst/>
          </a:prstGeom>
          <a:noFill/>
        </p:spPr>
        <p:txBody>
          <a:bodyPr wrap="square">
            <a:spAutoFit/>
          </a:bodyPr>
          <a:lstStyle/>
          <a:p>
            <a:pPr algn="l">
              <a:spcBef>
                <a:spcPts val="0"/>
              </a:spcBef>
              <a:spcAft>
                <a:spcPts val="1000"/>
              </a:spcAft>
            </a:pPr>
            <a:r>
              <a:rPr sz="3100" b="1">
                <a:solidFill>
                  <a:srgbClr val="102A43"/>
                </a:solidFill>
                <a:latin typeface="Arial"/>
              </a:rPr>
              <a:t>How we measured</a:t>
            </a:r>
          </a:p>
        </p:txBody>
      </p:sp>
      <p:pic>
        <p:nvPicPr>
          <p:cNvPr id="5" name="Picture 4" descr="fig_photos.png"/>
          <p:cNvPicPr>
            <a:picLocks noChangeAspect="1"/>
          </p:cNvPicPr>
          <p:nvPr/>
        </p:nvPicPr>
        <p:blipFill>
          <a:blip r:embed="rId3"/>
          <a:stretch>
            <a:fillRect/>
          </a:stretch>
        </p:blipFill>
        <p:spPr>
          <a:xfrm>
            <a:off x="1307387" y="1298448"/>
            <a:ext cx="9576919" cy="3566159"/>
          </a:xfrm>
          <a:prstGeom prst="rect">
            <a:avLst/>
          </a:prstGeom>
        </p:spPr>
      </p:pic>
      <p:sp>
        <p:nvSpPr>
          <p:cNvPr id="6" name="TextBox 5"/>
          <p:cNvSpPr txBox="1"/>
          <p:nvPr/>
        </p:nvSpPr>
        <p:spPr>
          <a:xfrm>
            <a:off x="777240" y="4956048"/>
            <a:ext cx="5166360" cy="1371600"/>
          </a:xfrm>
          <a:prstGeom prst="rect">
            <a:avLst/>
          </a:prstGeom>
          <a:noFill/>
        </p:spPr>
        <p:txBody>
          <a:bodyPr wrap="square">
            <a:spAutoFit/>
          </a:bodyPr>
          <a:lstStyle/>
          <a:p>
            <a:pPr algn="l">
              <a:spcBef>
                <a:spcPts val="0"/>
              </a:spcBef>
              <a:spcAft>
                <a:spcPts val="800"/>
              </a:spcAft>
            </a:pPr>
            <a:r>
              <a:rPr sz="1200" b="1">
                <a:solidFill>
                  <a:srgbClr val="1F77B4"/>
                </a:solidFill>
                <a:latin typeface="Arial"/>
              </a:rPr>
              <a:t>Instrument  </a:t>
            </a:r>
            <a:r>
              <a:rPr sz="1200" b="0">
                <a:solidFill>
                  <a:srgbClr val="1A1A1A"/>
                </a:solidFill>
                <a:latin typeface="Arial"/>
              </a:rPr>
              <a:t>NSRT_W_mk4 logger, factory-calibrated. Meets IEC 61672-1:2002 accuracy; not a certified Class 1/2 meter.</a:t>
            </a:r>
          </a:p>
          <a:p>
            <a:pPr>
              <a:spcBef>
                <a:spcPts val="0"/>
              </a:spcBef>
              <a:spcAft>
                <a:spcPts val="800"/>
              </a:spcAft>
            </a:pPr>
            <a:r>
              <a:rPr sz="1200" b="1">
                <a:solidFill>
                  <a:srgbClr val="1F77B4"/>
                </a:solidFill>
                <a:latin typeface="Arial"/>
              </a:rPr>
              <a:t>Sampling  </a:t>
            </a:r>
            <a:r>
              <a:rPr sz="1200" b="0">
                <a:solidFill>
                  <a:srgbClr val="1A1A1A"/>
                </a:solidFill>
                <a:latin typeface="Arial"/>
              </a:rPr>
              <a:t>One A-weighted Lₑq reading per second at each home, about 15 million readings per home over the six months.</a:t>
            </a:r>
          </a:p>
          <a:p>
            <a:pPr>
              <a:spcBef>
                <a:spcPts val="0"/>
              </a:spcBef>
              <a:spcAft>
                <a:spcPts val="800"/>
              </a:spcAft>
            </a:pPr>
            <a:r>
              <a:rPr sz="1200" b="1">
                <a:solidFill>
                  <a:srgbClr val="1F77B4"/>
                </a:solidFill>
                <a:latin typeface="Arial"/>
              </a:rPr>
              <a:t>Quality control  </a:t>
            </a:r>
            <a:r>
              <a:rPr sz="1200" b="0">
                <a:solidFill>
                  <a:srgbClr val="1A1A1A"/>
                </a:solidFill>
                <a:latin typeface="Arial"/>
              </a:rPr>
              <a:t>A day or night period counts only if ≥75% of its length was recorded. Exclusions are listed, not dropped.</a:t>
            </a:r>
          </a:p>
        </p:txBody>
      </p:sp>
      <p:sp>
        <p:nvSpPr>
          <p:cNvPr id="7" name="TextBox 6"/>
          <p:cNvSpPr txBox="1"/>
          <p:nvPr/>
        </p:nvSpPr>
        <p:spPr>
          <a:xfrm>
            <a:off x="6309359" y="4956048"/>
            <a:ext cx="5166360" cy="1405513"/>
          </a:xfrm>
          <a:prstGeom prst="rect">
            <a:avLst/>
          </a:prstGeom>
          <a:noFill/>
        </p:spPr>
        <p:txBody>
          <a:bodyPr wrap="square" lIns="91440" tIns="45720" rIns="91440" bIns="45720" anchor="t">
            <a:spAutoFit/>
          </a:bodyPr>
          <a:lstStyle/>
          <a:p>
            <a:pPr algn="l">
              <a:spcBef>
                <a:spcPts val="0"/>
              </a:spcBef>
              <a:spcAft>
                <a:spcPts val="800"/>
              </a:spcAft>
            </a:pPr>
            <a:r>
              <a:rPr sz="1200" b="1">
                <a:solidFill>
                  <a:srgbClr val="1F77B4"/>
                </a:solidFill>
                <a:latin typeface="Arial"/>
              </a:rPr>
              <a:t>Placement  </a:t>
            </a:r>
            <a:r>
              <a:rPr sz="1200" b="0">
                <a:solidFill>
                  <a:srgbClr val="1A1A1A"/>
                </a:solidFill>
                <a:latin typeface="Arial"/>
              </a:rPr>
              <a:t>Rear yard, ~2 m above ground, away from roadways, at the receiving residential property (COMAR 26.02.03.02D; ISO 1996-2).</a:t>
            </a:r>
          </a:p>
          <a:p>
            <a:pPr>
              <a:spcAft>
                <a:spcPts val="800"/>
              </a:spcAft>
            </a:pPr>
            <a:r>
              <a:rPr sz="1200" b="1">
                <a:solidFill>
                  <a:srgbClr val="1F77B4"/>
                </a:solidFill>
                <a:latin typeface="Arial"/>
              </a:rPr>
              <a:t>Criteria  </a:t>
            </a:r>
            <a:r>
              <a:rPr sz="1200" b="0">
                <a:solidFill>
                  <a:srgbClr val="1A1A1A"/>
                </a:solidFill>
                <a:latin typeface="Arial"/>
              </a:rPr>
              <a:t>WHO 2018: 45 dB at</a:t>
            </a:r>
            <a:r>
              <a:rPr lang="en-US" sz="1200">
                <a:solidFill>
                  <a:srgbClr val="1A1A1A"/>
                </a:solidFill>
                <a:latin typeface="Arial"/>
              </a:rPr>
              <a:t> night</a:t>
            </a:r>
            <a:r>
              <a:rPr sz="1200" b="0">
                <a:solidFill>
                  <a:srgbClr val="1A1A1A"/>
                </a:solidFill>
                <a:latin typeface="Arial"/>
              </a:rPr>
              <a:t>, health-based.  COMAR / Howard County §8.900: 55 dB night, 65 dB day, enforceable.</a:t>
            </a:r>
            <a:endParaRPr sz="1200" b="0">
              <a:solidFill>
                <a:srgbClr val="1A1A1A"/>
              </a:solidFill>
              <a:latin typeface="Arial"/>
              <a:cs typeface="Arial"/>
            </a:endParaRPr>
          </a:p>
          <a:p>
            <a:pPr>
              <a:spcBef>
                <a:spcPts val="0"/>
              </a:spcBef>
              <a:spcAft>
                <a:spcPts val="800"/>
              </a:spcAft>
            </a:pPr>
            <a:r>
              <a:rPr sz="1200" b="1">
                <a:solidFill>
                  <a:srgbClr val="1F77B4"/>
                </a:solidFill>
                <a:latin typeface="Arial"/>
              </a:rPr>
              <a:t>Analysis  </a:t>
            </a:r>
            <a:r>
              <a:rPr sz="1200" b="0">
                <a:solidFill>
                  <a:srgbClr val="1A1A1A"/>
                </a:solidFill>
                <a:latin typeface="Arial"/>
              </a:rPr>
              <a:t>Open, version-controlled pipeline; every figure regenerates from the raw files. </a:t>
            </a:r>
            <a:endParaRPr sz="1200" b="0">
              <a:solidFill>
                <a:srgbClr val="1A1A1A"/>
              </a:solidFill>
              <a:latin typeface="Arial"/>
              <a:cs typeface="Arial"/>
            </a:endParaRPr>
          </a:p>
        </p:txBody>
      </p:sp>
      <p:sp>
        <p:nvSpPr>
          <p:cNvPr id="8" name="TextBox 7"/>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6</a:t>
            </a:r>
          </a:p>
        </p:txBody>
      </p:sp>
    </p:spTree>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284693"/>
          </a:xfrm>
          <a:prstGeom prst="rect">
            <a:avLst/>
          </a:prstGeom>
          <a:noFill/>
        </p:spPr>
        <p:txBody>
          <a:bodyPr wrap="square" lIns="91440" tIns="45720" rIns="91440" bIns="45720" anchor="t">
            <a:spAutoFit/>
          </a:bodyPr>
          <a:lstStyle/>
          <a:p>
            <a:pPr algn="l">
              <a:spcBef>
                <a:spcPts val="0"/>
              </a:spcBef>
              <a:spcAft>
                <a:spcPts val="1000"/>
              </a:spcAft>
            </a:pPr>
            <a:r>
              <a:rPr sz="1250" b="1">
                <a:solidFill>
                  <a:srgbClr val="5A646E"/>
                </a:solidFill>
                <a:latin typeface="Arial"/>
              </a:rPr>
              <a:t>RESULTS · 1 OF </a:t>
            </a:r>
            <a:r>
              <a:rPr lang="en-US" sz="1250" b="1">
                <a:solidFill>
                  <a:srgbClr val="5A646E"/>
                </a:solidFill>
                <a:latin typeface="Arial"/>
              </a:rPr>
              <a:t>2</a:t>
            </a:r>
            <a:endParaRPr sz="1250" b="1">
              <a:solidFill>
                <a:srgbClr val="5A646E"/>
              </a:solidFill>
              <a:latin typeface="Arial"/>
            </a:endParaRPr>
          </a:p>
        </p:txBody>
      </p:sp>
      <p:sp>
        <p:nvSpPr>
          <p:cNvPr id="4" name="TextBox 3"/>
          <p:cNvSpPr txBox="1"/>
          <p:nvPr/>
        </p:nvSpPr>
        <p:spPr>
          <a:xfrm>
            <a:off x="640080" y="749808"/>
            <a:ext cx="10881360" cy="569387"/>
          </a:xfrm>
          <a:prstGeom prst="rect">
            <a:avLst/>
          </a:prstGeom>
          <a:noFill/>
        </p:spPr>
        <p:txBody>
          <a:bodyPr wrap="square" lIns="91440" tIns="45720" rIns="91440" bIns="45720" anchor="t">
            <a:spAutoFit/>
          </a:bodyPr>
          <a:lstStyle/>
          <a:p>
            <a:pPr>
              <a:spcAft>
                <a:spcPts val="1000"/>
              </a:spcAft>
            </a:pPr>
            <a:r>
              <a:rPr lang="en-US" sz="3100" b="1">
                <a:solidFill>
                  <a:srgbClr val="102A43"/>
                </a:solidFill>
                <a:latin typeface="Arial"/>
                <a:ea typeface="Calibri"/>
                <a:cs typeface="Arial"/>
              </a:rPr>
              <a:t>Average Background Floor Noise by time of day (6 m)</a:t>
            </a:r>
            <a:endParaRPr lang="en-US"/>
          </a:p>
        </p:txBody>
      </p:sp>
      <p:pic>
        <p:nvPicPr>
          <p:cNvPr id="5" name="Picture 4" descr="image3.png"/>
          <p:cNvPicPr>
            <a:picLocks noChangeAspect="1"/>
          </p:cNvPicPr>
          <p:nvPr/>
        </p:nvPicPr>
        <p:blipFill>
          <a:blip r:embed="rId2"/>
          <a:stretch>
            <a:fillRect/>
          </a:stretch>
        </p:blipFill>
        <p:spPr>
          <a:xfrm>
            <a:off x="1609191" y="1298448"/>
            <a:ext cx="8973312" cy="4389120"/>
          </a:xfrm>
          <a:prstGeom prst="rect">
            <a:avLst/>
          </a:prstGeom>
        </p:spPr>
      </p:pic>
      <p:sp>
        <p:nvSpPr>
          <p:cNvPr id="6" name="TextBox 5"/>
          <p:cNvSpPr txBox="1"/>
          <p:nvPr/>
        </p:nvSpPr>
        <p:spPr>
          <a:xfrm>
            <a:off x="685800" y="5779008"/>
            <a:ext cx="10881360" cy="646331"/>
          </a:xfrm>
          <a:prstGeom prst="rect">
            <a:avLst/>
          </a:prstGeom>
          <a:noFill/>
        </p:spPr>
        <p:txBody>
          <a:bodyPr wrap="square" lIns="91440" tIns="45720" rIns="91440" bIns="45720" anchor="t">
            <a:spAutoFit/>
          </a:bodyPr>
          <a:lstStyle/>
          <a:p>
            <a:pPr algn="l">
              <a:spcBef>
                <a:spcPts val="0"/>
              </a:spcBef>
              <a:spcAft>
                <a:spcPts val="1000"/>
              </a:spcAft>
            </a:pPr>
            <a:r>
              <a:rPr b="1">
                <a:solidFill>
                  <a:srgbClr val="102A43"/>
                </a:solidFill>
                <a:latin typeface="Arial"/>
              </a:rPr>
              <a:t> The reference home falls 8.3 dB after dark, to </a:t>
            </a:r>
            <a:r>
              <a:rPr lang="en-US" b="1">
                <a:solidFill>
                  <a:srgbClr val="102A43"/>
                </a:solidFill>
                <a:latin typeface="Arial"/>
              </a:rPr>
              <a:t>36</a:t>
            </a:r>
            <a:r>
              <a:rPr b="1">
                <a:solidFill>
                  <a:srgbClr val="102A43"/>
                </a:solidFill>
                <a:latin typeface="Arial"/>
              </a:rPr>
              <a:t> dB in the early hours. Homes C and D fall 1.9 and 3.7 dB and stay near 50 dB around the clock. They have no quiet hours.</a:t>
            </a:r>
          </a:p>
        </p:txBody>
      </p:sp>
      <p:sp>
        <p:nvSpPr>
          <p:cNvPr id="7" name="TextBox 6"/>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284693"/>
          </a:xfrm>
          <a:prstGeom prst="rect">
            <a:avLst/>
          </a:prstGeom>
          <a:noFill/>
        </p:spPr>
        <p:txBody>
          <a:bodyPr wrap="square" lIns="91440" tIns="45720" rIns="91440" bIns="45720" anchor="t">
            <a:spAutoFit/>
          </a:bodyPr>
          <a:lstStyle/>
          <a:p>
            <a:pPr algn="l">
              <a:spcBef>
                <a:spcPts val="0"/>
              </a:spcBef>
              <a:spcAft>
                <a:spcPts val="1000"/>
              </a:spcAft>
            </a:pPr>
            <a:r>
              <a:rPr sz="1250" b="1">
                <a:solidFill>
                  <a:srgbClr val="5A646E"/>
                </a:solidFill>
                <a:latin typeface="Arial"/>
              </a:rPr>
              <a:t>RESULTS · 2 OF </a:t>
            </a:r>
            <a:r>
              <a:rPr lang="en-US" sz="1250" b="1">
                <a:solidFill>
                  <a:srgbClr val="5A646E"/>
                </a:solidFill>
                <a:latin typeface="Arial"/>
              </a:rPr>
              <a:t>2</a:t>
            </a:r>
            <a:endParaRPr sz="1250" b="1">
              <a:solidFill>
                <a:srgbClr val="5A646E"/>
              </a:solidFill>
              <a:latin typeface="Arial"/>
            </a:endParaRPr>
          </a:p>
        </p:txBody>
      </p:sp>
      <p:sp>
        <p:nvSpPr>
          <p:cNvPr id="4" name="TextBox 3"/>
          <p:cNvSpPr txBox="1"/>
          <p:nvPr/>
        </p:nvSpPr>
        <p:spPr>
          <a:xfrm>
            <a:off x="640080" y="749808"/>
            <a:ext cx="10881360" cy="777240"/>
          </a:xfrm>
          <a:prstGeom prst="rect">
            <a:avLst/>
          </a:prstGeom>
          <a:noFill/>
        </p:spPr>
        <p:txBody>
          <a:bodyPr wrap="square">
            <a:spAutoFit/>
          </a:bodyPr>
          <a:lstStyle/>
          <a:p>
            <a:pPr algn="l">
              <a:spcBef>
                <a:spcPts val="0"/>
              </a:spcBef>
              <a:spcAft>
                <a:spcPts val="1000"/>
              </a:spcAft>
            </a:pPr>
            <a:r>
              <a:rPr sz="3100" b="1">
                <a:solidFill>
                  <a:srgbClr val="102A43"/>
                </a:solidFill>
                <a:latin typeface="Arial"/>
              </a:rPr>
              <a:t>The background floor, day and night</a:t>
            </a:r>
          </a:p>
        </p:txBody>
      </p:sp>
      <p:pic>
        <p:nvPicPr>
          <p:cNvPr id="5" name="Picture 4" descr="fig_daynight_floor.png"/>
          <p:cNvPicPr>
            <a:picLocks noChangeAspect="1"/>
          </p:cNvPicPr>
          <p:nvPr/>
        </p:nvPicPr>
        <p:blipFill>
          <a:blip r:embed="rId2"/>
          <a:stretch>
            <a:fillRect/>
          </a:stretch>
        </p:blipFill>
        <p:spPr>
          <a:xfrm>
            <a:off x="724208" y="1298448"/>
            <a:ext cx="10743277" cy="4242816"/>
          </a:xfrm>
          <a:prstGeom prst="rect">
            <a:avLst/>
          </a:prstGeom>
        </p:spPr>
      </p:pic>
      <p:sp>
        <p:nvSpPr>
          <p:cNvPr id="6" name="TextBox 5"/>
          <p:cNvSpPr txBox="1"/>
          <p:nvPr/>
        </p:nvSpPr>
        <p:spPr>
          <a:xfrm>
            <a:off x="685800" y="5614416"/>
            <a:ext cx="9875520" cy="914400"/>
          </a:xfrm>
          <a:prstGeom prst="rect">
            <a:avLst/>
          </a:prstGeom>
          <a:noFill/>
        </p:spPr>
        <p:txBody>
          <a:bodyPr wrap="square">
            <a:spAutoFit/>
          </a:bodyPr>
          <a:lstStyle/>
          <a:p>
            <a:pPr algn="l">
              <a:spcBef>
                <a:spcPts val="0"/>
              </a:spcBef>
              <a:spcAft>
                <a:spcPts val="500"/>
              </a:spcAft>
            </a:pPr>
            <a:r>
              <a:rPr sz="1700" b="1">
                <a:solidFill>
                  <a:srgbClr val="102A43"/>
                </a:solidFill>
                <a:latin typeface="Arial"/>
              </a:rPr>
              <a:t>The reference home goes quiet after dark. The fenceline homes do not.</a:t>
            </a:r>
          </a:p>
          <a:p>
            <a:pPr>
              <a:spcBef>
                <a:spcPts val="0"/>
              </a:spcBef>
              <a:spcAft>
                <a:spcPts val="1000"/>
              </a:spcAft>
            </a:pPr>
            <a:r>
              <a:rPr sz="1350" b="0">
                <a:solidFill>
                  <a:srgbClr val="1A1A1A"/>
                </a:solidFill>
                <a:latin typeface="Arial"/>
              </a:rPr>
              <a:t>At night, Homes C and D are louder than the reference neighbourhood is at midday. Their floor stayed above the WHO night guideline on 177 of 177 and 171 of 173 nights.</a:t>
            </a:r>
          </a:p>
        </p:txBody>
      </p:sp>
      <p:sp>
        <p:nvSpPr>
          <p:cNvPr id="7" name="TextBox 6"/>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284693"/>
          </a:xfrm>
          <a:prstGeom prst="rect">
            <a:avLst/>
          </a:prstGeom>
          <a:noFill/>
        </p:spPr>
        <p:txBody>
          <a:bodyPr wrap="square" lIns="91440" tIns="45720" rIns="91440" bIns="45720" anchor="t">
            <a:spAutoFit/>
          </a:bodyPr>
          <a:lstStyle/>
          <a:p>
            <a:pPr>
              <a:spcAft>
                <a:spcPts val="1000"/>
              </a:spcAft>
            </a:pPr>
            <a:r>
              <a:rPr lang="en-US" sz="1250" b="1">
                <a:solidFill>
                  <a:srgbClr val="5A646E"/>
                </a:solidFill>
                <a:latin typeface="Arial"/>
              </a:rPr>
              <a:t>CONCLUSION 1 of 2</a:t>
            </a:r>
            <a:endParaRPr lang="en-US"/>
          </a:p>
        </p:txBody>
      </p:sp>
      <p:sp>
        <p:nvSpPr>
          <p:cNvPr id="4" name="TextBox 3"/>
          <p:cNvSpPr txBox="1"/>
          <p:nvPr/>
        </p:nvSpPr>
        <p:spPr>
          <a:xfrm>
            <a:off x="640080" y="749808"/>
            <a:ext cx="10881360" cy="777240"/>
          </a:xfrm>
          <a:prstGeom prst="rect">
            <a:avLst/>
          </a:prstGeom>
          <a:noFill/>
        </p:spPr>
        <p:txBody>
          <a:bodyPr wrap="square">
            <a:spAutoFit/>
          </a:bodyPr>
          <a:lstStyle/>
          <a:p>
            <a:pPr algn="l">
              <a:spcBef>
                <a:spcPts val="0"/>
              </a:spcBef>
              <a:spcAft>
                <a:spcPts val="1000"/>
              </a:spcAft>
            </a:pPr>
            <a:r>
              <a:rPr sz="3100" b="1">
                <a:solidFill>
                  <a:srgbClr val="102A43"/>
                </a:solidFill>
                <a:latin typeface="Arial"/>
              </a:rPr>
              <a:t>What these measurements do and do not show</a:t>
            </a:r>
          </a:p>
        </p:txBody>
      </p:sp>
      <p:sp>
        <p:nvSpPr>
          <p:cNvPr id="5" name="Rectangle 4"/>
          <p:cNvSpPr/>
          <p:nvPr/>
        </p:nvSpPr>
        <p:spPr>
          <a:xfrm>
            <a:off x="800330" y="1615593"/>
            <a:ext cx="5097550" cy="4292754"/>
          </a:xfrm>
          <a:prstGeom prst="rect">
            <a:avLst/>
          </a:prstGeom>
          <a:solidFill>
            <a:srgbClr val="EC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Rectangle 5"/>
          <p:cNvSpPr/>
          <p:nvPr/>
        </p:nvSpPr>
        <p:spPr>
          <a:xfrm>
            <a:off x="777240" y="1600200"/>
            <a:ext cx="5120640" cy="640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1810512"/>
            <a:ext cx="4526280" cy="3865161"/>
          </a:xfrm>
          <a:prstGeom prst="rect">
            <a:avLst/>
          </a:prstGeom>
          <a:noFill/>
        </p:spPr>
        <p:txBody>
          <a:bodyPr wrap="square" lIns="91440" tIns="45720" rIns="91440" bIns="45720" anchor="t">
            <a:spAutoFit/>
          </a:bodyPr>
          <a:lstStyle/>
          <a:p>
            <a:pPr algn="l">
              <a:spcBef>
                <a:spcPts val="0"/>
              </a:spcBef>
              <a:spcAft>
                <a:spcPts val="1400"/>
              </a:spcAft>
            </a:pPr>
            <a:r>
              <a:rPr sz="2100" b="1">
                <a:solidFill>
                  <a:srgbClr val="1F77B4"/>
                </a:solidFill>
                <a:latin typeface="Arial"/>
              </a:rPr>
              <a:t>What they establish</a:t>
            </a:r>
            <a:endParaRPr lang="en-US" sz="2100" b="1">
              <a:solidFill>
                <a:srgbClr val="1F77B4"/>
              </a:solidFill>
              <a:latin typeface="Arial"/>
              <a:cs typeface="Arial"/>
            </a:endParaRPr>
          </a:p>
          <a:p>
            <a:pPr>
              <a:spcBef>
                <a:spcPts val="0"/>
              </a:spcBef>
              <a:spcAft>
                <a:spcPts val="1300"/>
              </a:spcAft>
            </a:pPr>
            <a:r>
              <a:rPr b="0">
                <a:solidFill>
                  <a:srgbClr val="1A1A1A"/>
                </a:solidFill>
                <a:latin typeface="Arial"/>
              </a:rPr>
              <a:t>•  Two fenceline homes have no quiet night: their floor stays above the WHO guideline all night, every night.</a:t>
            </a:r>
            <a:endParaRPr b="0">
              <a:solidFill>
                <a:srgbClr val="1A1A1A"/>
              </a:solidFill>
              <a:latin typeface="Arial"/>
              <a:cs typeface="Arial"/>
            </a:endParaRPr>
          </a:p>
          <a:p>
            <a:pPr>
              <a:spcAft>
                <a:spcPts val="1300"/>
              </a:spcAft>
            </a:pPr>
            <a:r>
              <a:rPr b="0">
                <a:solidFill>
                  <a:srgbClr val="1A1A1A"/>
                </a:solidFill>
                <a:latin typeface="Arial"/>
              </a:rPr>
              <a:t>• </a:t>
            </a:r>
            <a:r>
              <a:rPr lang="en-US">
                <a:solidFill>
                  <a:srgbClr val="1A1A1A"/>
                </a:solidFill>
                <a:latin typeface="Arial"/>
              </a:rPr>
              <a:t>Noise is chronic</a:t>
            </a:r>
            <a:r>
              <a:rPr b="0">
                <a:solidFill>
                  <a:srgbClr val="1A1A1A"/>
                </a:solidFill>
                <a:latin typeface="Arial"/>
              </a:rPr>
              <a:t>: the pattern held for six consecutive months.</a:t>
            </a:r>
            <a:endParaRPr b="0">
              <a:solidFill>
                <a:srgbClr val="1A1A1A"/>
              </a:solidFill>
              <a:latin typeface="Arial"/>
              <a:cs typeface="Arial"/>
            </a:endParaRPr>
          </a:p>
          <a:p>
            <a:pPr>
              <a:spcAft>
                <a:spcPts val="1300"/>
              </a:spcAft>
            </a:pPr>
            <a:r>
              <a:rPr b="0">
                <a:solidFill>
                  <a:srgbClr val="1A1A1A"/>
                </a:solidFill>
                <a:latin typeface="Arial"/>
              </a:rPr>
              <a:t>•  It is spatially clustered: the two most affected homes are close together</a:t>
            </a:r>
            <a:r>
              <a:rPr lang="en-US">
                <a:solidFill>
                  <a:srgbClr val="1A1A1A"/>
                </a:solidFill>
                <a:latin typeface="Arial"/>
              </a:rPr>
              <a:t> and closer to the facility</a:t>
            </a:r>
            <a:r>
              <a:rPr b="0">
                <a:solidFill>
                  <a:srgbClr val="1A1A1A"/>
                </a:solidFill>
                <a:latin typeface="Arial"/>
              </a:rPr>
              <a:t>.</a:t>
            </a:r>
            <a:endParaRPr b="0">
              <a:solidFill>
                <a:srgbClr val="1A1A1A"/>
              </a:solidFill>
              <a:latin typeface="Arial"/>
              <a:cs typeface="Arial"/>
            </a:endParaRPr>
          </a:p>
          <a:p>
            <a:pPr>
              <a:spcAft>
                <a:spcPts val="1300"/>
              </a:spcAft>
            </a:pPr>
            <a:r>
              <a:rPr b="0">
                <a:solidFill>
                  <a:srgbClr val="1A1A1A"/>
                </a:solidFill>
                <a:latin typeface="Arial"/>
              </a:rPr>
              <a:t>•  The highway is shared by all four homes</a:t>
            </a:r>
            <a:r>
              <a:rPr lang="en-US">
                <a:solidFill>
                  <a:srgbClr val="1A1A1A"/>
                </a:solidFill>
                <a:latin typeface="Arial"/>
              </a:rPr>
              <a:t>; </a:t>
            </a:r>
            <a:r>
              <a:rPr b="0">
                <a:solidFill>
                  <a:srgbClr val="1A1A1A"/>
                </a:solidFill>
                <a:latin typeface="Arial"/>
              </a:rPr>
              <a:t>it does not explain the difference.</a:t>
            </a:r>
            <a:endParaRPr b="0">
              <a:solidFill>
                <a:srgbClr val="1A1A1A"/>
              </a:solidFill>
              <a:latin typeface="Arial"/>
              <a:cs typeface="Arial"/>
            </a:endParaRPr>
          </a:p>
        </p:txBody>
      </p:sp>
      <p:sp>
        <p:nvSpPr>
          <p:cNvPr id="8" name="Rectangle 7"/>
          <p:cNvSpPr/>
          <p:nvPr/>
        </p:nvSpPr>
        <p:spPr>
          <a:xfrm>
            <a:off x="6309360" y="1607896"/>
            <a:ext cx="5166821" cy="4292754"/>
          </a:xfrm>
          <a:prstGeom prst="rect">
            <a:avLst/>
          </a:prstGeom>
          <a:solidFill>
            <a:srgbClr val="F8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600200"/>
            <a:ext cx="5120640" cy="64008"/>
          </a:xfrm>
          <a:prstGeom prst="rect">
            <a:avLst/>
          </a:prstGeom>
          <a:solidFill>
            <a:srgbClr val="C05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11112" y="1810512"/>
            <a:ext cx="4526280" cy="3865161"/>
          </a:xfrm>
          <a:prstGeom prst="rect">
            <a:avLst/>
          </a:prstGeom>
          <a:noFill/>
        </p:spPr>
        <p:txBody>
          <a:bodyPr wrap="square" lIns="91440" tIns="45720" rIns="91440" bIns="45720" anchor="t">
            <a:spAutoFit/>
          </a:bodyPr>
          <a:lstStyle/>
          <a:p>
            <a:pPr algn="l">
              <a:spcBef>
                <a:spcPts val="0"/>
              </a:spcBef>
              <a:spcAft>
                <a:spcPts val="1400"/>
              </a:spcAft>
            </a:pPr>
            <a:r>
              <a:rPr sz="2100" b="1">
                <a:solidFill>
                  <a:srgbClr val="C05300"/>
                </a:solidFill>
                <a:latin typeface="Arial"/>
              </a:rPr>
              <a:t>What they do not</a:t>
            </a:r>
          </a:p>
          <a:p>
            <a:pPr>
              <a:spcAft>
                <a:spcPts val="1300"/>
              </a:spcAft>
            </a:pPr>
            <a:r>
              <a:rPr b="0">
                <a:solidFill>
                  <a:srgbClr val="1A1A1A"/>
                </a:solidFill>
                <a:latin typeface="Arial"/>
              </a:rPr>
              <a:t>• </a:t>
            </a:r>
            <a:r>
              <a:rPr lang="en-US">
                <a:solidFill>
                  <a:srgbClr val="1A1A1A"/>
                </a:solidFill>
                <a:latin typeface="Arial"/>
              </a:rPr>
              <a:t>Source cannot be identified</a:t>
            </a:r>
            <a:r>
              <a:rPr b="0">
                <a:solidFill>
                  <a:srgbClr val="1A1A1A"/>
                </a:solidFill>
                <a:latin typeface="Arial"/>
              </a:rPr>
              <a:t>. A meter measures exposure, not origin.</a:t>
            </a:r>
            <a:endParaRPr b="0">
              <a:solidFill>
                <a:srgbClr val="1A1A1A"/>
              </a:solidFill>
              <a:latin typeface="Arial"/>
              <a:cs typeface="Arial"/>
            </a:endParaRPr>
          </a:p>
          <a:p>
            <a:pPr>
              <a:spcBef>
                <a:spcPts val="0"/>
              </a:spcBef>
              <a:spcAft>
                <a:spcPts val="1300"/>
              </a:spcAft>
            </a:pPr>
            <a:r>
              <a:rPr b="0">
                <a:solidFill>
                  <a:srgbClr val="1A1A1A"/>
                </a:solidFill>
                <a:latin typeface="Arial"/>
              </a:rPr>
              <a:t>•  The reference home crossed 55 dB on more nights than any fenceline home: 28 of 182, against 6, 6 and 18.</a:t>
            </a:r>
            <a:endParaRPr b="0">
              <a:solidFill>
                <a:srgbClr val="1A1A1A"/>
              </a:solidFill>
              <a:latin typeface="Arial"/>
              <a:cs typeface="Arial"/>
            </a:endParaRPr>
          </a:p>
          <a:p>
            <a:pPr>
              <a:spcAft>
                <a:spcPts val="1300"/>
              </a:spcAft>
            </a:pPr>
            <a:r>
              <a:rPr b="0">
                <a:solidFill>
                  <a:srgbClr val="1A1A1A"/>
                </a:solidFill>
                <a:latin typeface="Arial"/>
              </a:rPr>
              <a:t>•  Not a legal measurement</a:t>
            </a:r>
            <a:r>
              <a:rPr lang="en-US">
                <a:solidFill>
                  <a:srgbClr val="1A1A1A"/>
                </a:solidFill>
                <a:latin typeface="Arial"/>
              </a:rPr>
              <a:t> </a:t>
            </a:r>
            <a:r>
              <a:rPr b="0">
                <a:solidFill>
                  <a:srgbClr val="1A1A1A"/>
                </a:solidFill>
                <a:latin typeface="Arial"/>
              </a:rPr>
              <a:t>loggers that meet IEC 61672-1:2002 accuracy but are not certified Class 1/2.</a:t>
            </a:r>
          </a:p>
          <a:p>
            <a:pPr indent="-285750">
              <a:spcAft>
                <a:spcPts val="1300"/>
              </a:spcAft>
              <a:buFont typeface="Arial"/>
              <a:buChar char="•"/>
            </a:pPr>
            <a:r>
              <a:rPr lang="en-US">
                <a:solidFill>
                  <a:srgbClr val="1A1A1A"/>
                </a:solidFill>
                <a:latin typeface="Arial"/>
              </a:rPr>
              <a:t>Control home is a regional reference, not a matched control</a:t>
            </a:r>
            <a:endParaRPr lang="en-US">
              <a:solidFill>
                <a:srgbClr val="1A1A1A"/>
              </a:solidFill>
              <a:latin typeface="Arial"/>
              <a:cs typeface="Arial"/>
            </a:endParaRPr>
          </a:p>
        </p:txBody>
      </p:sp>
      <p:sp>
        <p:nvSpPr>
          <p:cNvPr id="11" name="TextBox 10"/>
          <p:cNvSpPr txBox="1"/>
          <p:nvPr/>
        </p:nvSpPr>
        <p:spPr>
          <a:xfrm>
            <a:off x="823422" y="6183592"/>
            <a:ext cx="10607040" cy="338554"/>
          </a:xfrm>
          <a:prstGeom prst="rect">
            <a:avLst/>
          </a:prstGeom>
          <a:noFill/>
        </p:spPr>
        <p:txBody>
          <a:bodyPr wrap="square" lIns="91440" tIns="45720" rIns="91440" bIns="45720" anchor="t">
            <a:spAutoFit/>
          </a:bodyPr>
          <a:lstStyle/>
          <a:p>
            <a:pPr algn="l">
              <a:spcBef>
                <a:spcPts val="0"/>
              </a:spcBef>
              <a:spcAft>
                <a:spcPts val="1000"/>
              </a:spcAft>
            </a:pPr>
            <a:r>
              <a:rPr sz="1600" b="1">
                <a:solidFill>
                  <a:srgbClr val="102A43"/>
                </a:solidFill>
                <a:latin typeface="Arial"/>
              </a:rPr>
              <a:t>We chose the floor as the headline metric because that is what a continuous source </a:t>
            </a:r>
            <a:r>
              <a:rPr lang="en-US" sz="1600" b="1">
                <a:solidFill>
                  <a:srgbClr val="102A43"/>
                </a:solidFill>
                <a:latin typeface="Arial"/>
              </a:rPr>
              <a:t>affects.</a:t>
            </a:r>
            <a:endParaRPr lang="en-US" sz="1600" b="1">
              <a:solidFill>
                <a:srgbClr val="102A43"/>
              </a:solidFill>
              <a:latin typeface="Arial"/>
              <a:cs typeface="Arial"/>
            </a:endParaRPr>
          </a:p>
        </p:txBody>
      </p:sp>
      <p:sp>
        <p:nvSpPr>
          <p:cNvPr id="12" name="TextBox 11"/>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9</a:t>
            </a:r>
          </a:p>
        </p:txBody>
      </p:sp>
    </p:spTree>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284693"/>
          </a:xfrm>
          <a:prstGeom prst="rect">
            <a:avLst/>
          </a:prstGeom>
          <a:noFill/>
        </p:spPr>
        <p:txBody>
          <a:bodyPr wrap="square" lIns="91440" tIns="45720" rIns="91440" bIns="45720" anchor="t">
            <a:spAutoFit/>
          </a:bodyPr>
          <a:lstStyle/>
          <a:p>
            <a:pPr>
              <a:spcAft>
                <a:spcPts val="1000"/>
              </a:spcAft>
            </a:pPr>
            <a:r>
              <a:rPr sz="1250" b="1">
                <a:solidFill>
                  <a:srgbClr val="5A646E"/>
                </a:solidFill>
                <a:latin typeface="Arial"/>
              </a:rPr>
              <a:t>CONCLUSION</a:t>
            </a:r>
            <a:r>
              <a:rPr lang="en-US" sz="1250" b="1">
                <a:solidFill>
                  <a:srgbClr val="5A646E"/>
                </a:solidFill>
                <a:latin typeface="Arial"/>
              </a:rPr>
              <a:t> 2 of 2</a:t>
            </a:r>
            <a:endParaRPr sz="1250" b="1">
              <a:solidFill>
                <a:srgbClr val="5A646E"/>
              </a:solidFill>
              <a:latin typeface="Arial"/>
            </a:endParaRPr>
          </a:p>
        </p:txBody>
      </p:sp>
      <p:sp>
        <p:nvSpPr>
          <p:cNvPr id="4" name="TextBox 3"/>
          <p:cNvSpPr txBox="1"/>
          <p:nvPr/>
        </p:nvSpPr>
        <p:spPr>
          <a:xfrm>
            <a:off x="640080" y="749808"/>
            <a:ext cx="10881360" cy="569387"/>
          </a:xfrm>
          <a:prstGeom prst="rect">
            <a:avLst/>
          </a:prstGeom>
          <a:noFill/>
        </p:spPr>
        <p:txBody>
          <a:bodyPr wrap="square" lIns="91440" tIns="45720" rIns="91440" bIns="45720" anchor="t">
            <a:spAutoFit/>
          </a:bodyPr>
          <a:lstStyle/>
          <a:p>
            <a:pPr>
              <a:spcAft>
                <a:spcPts val="1000"/>
              </a:spcAft>
            </a:pPr>
            <a:r>
              <a:rPr lang="en-US" sz="3100" b="1">
                <a:solidFill>
                  <a:srgbClr val="102A43"/>
                </a:solidFill>
                <a:latin typeface="Arial"/>
              </a:rPr>
              <a:t>Strengths and Limitations</a:t>
            </a:r>
            <a:endParaRPr lang="en-US"/>
          </a:p>
        </p:txBody>
      </p:sp>
      <p:sp>
        <p:nvSpPr>
          <p:cNvPr id="5" name="TextBox 4"/>
          <p:cNvSpPr txBox="1"/>
          <p:nvPr/>
        </p:nvSpPr>
        <p:spPr>
          <a:xfrm>
            <a:off x="777240" y="1552171"/>
            <a:ext cx="10607040" cy="5119350"/>
          </a:xfrm>
          <a:prstGeom prst="rect">
            <a:avLst/>
          </a:prstGeom>
          <a:noFill/>
        </p:spPr>
        <p:txBody>
          <a:bodyPr wrap="square" lIns="91440" tIns="45720" rIns="91440" bIns="45720" anchor="t">
            <a:spAutoFit/>
          </a:bodyPr>
          <a:lstStyle/>
          <a:p>
            <a:pPr algn="l">
              <a:spcBef>
                <a:spcPts val="0"/>
              </a:spcBef>
              <a:spcAft>
                <a:spcPts val="200"/>
              </a:spcAft>
            </a:pPr>
            <a:r>
              <a:rPr sz="2000" b="1">
                <a:solidFill>
                  <a:srgbClr val="102A43"/>
                </a:solidFill>
                <a:latin typeface="Arial"/>
              </a:rPr>
              <a:t>Community-hosted monitoring turned a complaint into a measurement.</a:t>
            </a:r>
          </a:p>
          <a:p>
            <a:r>
              <a:rPr sz="1600" b="0">
                <a:solidFill>
                  <a:srgbClr val="5A646E"/>
                </a:solidFill>
                <a:latin typeface="Arial"/>
              </a:rPr>
              <a:t>An open pipeline and a documented method give a result</a:t>
            </a:r>
            <a:r>
              <a:rPr lang="en-US" sz="1600">
                <a:solidFill>
                  <a:srgbClr val="5A646E"/>
                </a:solidFill>
                <a:latin typeface="Arial"/>
              </a:rPr>
              <a:t> which</a:t>
            </a:r>
            <a:r>
              <a:rPr sz="1600" b="0">
                <a:solidFill>
                  <a:srgbClr val="5A646E"/>
                </a:solidFill>
                <a:latin typeface="Arial"/>
              </a:rPr>
              <a:t> a regulator can examine rather than dismiss.</a:t>
            </a:r>
            <a:endParaRPr sz="1600" b="0">
              <a:solidFill>
                <a:srgbClr val="5A646E"/>
              </a:solidFill>
              <a:latin typeface="Arial"/>
              <a:cs typeface="Arial"/>
            </a:endParaRPr>
          </a:p>
          <a:p>
            <a:pPr>
              <a:spcBef>
                <a:spcPts val="2400"/>
              </a:spcBef>
              <a:spcAft>
                <a:spcPts val="200"/>
              </a:spcAft>
            </a:pPr>
            <a:r>
              <a:rPr sz="2000" b="1">
                <a:solidFill>
                  <a:srgbClr val="102A43"/>
                </a:solidFill>
                <a:latin typeface="Arial"/>
              </a:rPr>
              <a:t>The finding: two fenceline homes have no quiet night.</a:t>
            </a:r>
            <a:endParaRPr sz="2000" b="1">
              <a:solidFill>
                <a:srgbClr val="102A43"/>
              </a:solidFill>
              <a:latin typeface="Arial"/>
              <a:cs typeface="Arial"/>
            </a:endParaRPr>
          </a:p>
          <a:p>
            <a:pPr>
              <a:spcBef>
                <a:spcPts val="0"/>
              </a:spcBef>
              <a:spcAft>
                <a:spcPts val="0"/>
              </a:spcAft>
            </a:pPr>
            <a:r>
              <a:rPr sz="1600" b="0">
                <a:solidFill>
                  <a:srgbClr val="5A646E"/>
                </a:solidFill>
                <a:latin typeface="Arial"/>
              </a:rPr>
              <a:t>Continuously elevated for six months, above the WHO night-time health guideline.</a:t>
            </a:r>
            <a:endParaRPr sz="1600" b="0">
              <a:solidFill>
                <a:srgbClr val="5A646E"/>
              </a:solidFill>
              <a:latin typeface="Arial"/>
              <a:cs typeface="Arial"/>
            </a:endParaRPr>
          </a:p>
          <a:p>
            <a:pPr>
              <a:spcBef>
                <a:spcPts val="2400"/>
              </a:spcBef>
              <a:spcAft>
                <a:spcPts val="200"/>
              </a:spcAft>
            </a:pPr>
            <a:r>
              <a:rPr sz="2000" b="1">
                <a:solidFill>
                  <a:srgbClr val="102A43"/>
                </a:solidFill>
                <a:latin typeface="Arial"/>
              </a:rPr>
              <a:t>The results </a:t>
            </a:r>
            <a:r>
              <a:rPr lang="en-US" sz="2000" b="1">
                <a:solidFill>
                  <a:srgbClr val="102A43"/>
                </a:solidFill>
                <a:latin typeface="Arial"/>
              </a:rPr>
              <a:t>were reported </a:t>
            </a:r>
            <a:r>
              <a:rPr sz="2000" b="1">
                <a:solidFill>
                  <a:srgbClr val="102A43"/>
                </a:solidFill>
                <a:latin typeface="Arial"/>
              </a:rPr>
              <a:t>back to the residents first.</a:t>
            </a:r>
            <a:endParaRPr sz="2000" b="1">
              <a:solidFill>
                <a:srgbClr val="102A43"/>
              </a:solidFill>
              <a:latin typeface="Arial"/>
              <a:cs typeface="Arial"/>
            </a:endParaRPr>
          </a:p>
          <a:p>
            <a:r>
              <a:rPr sz="1600" b="0">
                <a:solidFill>
                  <a:srgbClr val="5A646E"/>
                </a:solidFill>
                <a:latin typeface="Arial"/>
              </a:rPr>
              <a:t>Each household got its own</a:t>
            </a:r>
            <a:r>
              <a:rPr lang="en-US" sz="1600">
                <a:solidFill>
                  <a:srgbClr val="5A646E"/>
                </a:solidFill>
                <a:latin typeface="Arial"/>
              </a:rPr>
              <a:t> monthly and comprehensive </a:t>
            </a:r>
            <a:r>
              <a:rPr sz="1600" b="0">
                <a:solidFill>
                  <a:srgbClr val="5A646E"/>
                </a:solidFill>
                <a:latin typeface="Arial"/>
              </a:rPr>
              <a:t>report; one de-identified report lets residents share the findings without </a:t>
            </a:r>
            <a:r>
              <a:rPr lang="en-US" sz="1600">
                <a:solidFill>
                  <a:srgbClr val="5A646E"/>
                </a:solidFill>
                <a:latin typeface="Arial"/>
              </a:rPr>
              <a:t>revealing location</a:t>
            </a:r>
            <a:r>
              <a:rPr sz="1600" b="0">
                <a:solidFill>
                  <a:srgbClr val="5A646E"/>
                </a:solidFill>
                <a:latin typeface="Arial"/>
              </a:rPr>
              <a:t>.</a:t>
            </a:r>
            <a:endParaRPr sz="1600" b="0">
              <a:solidFill>
                <a:srgbClr val="5A646E"/>
              </a:solidFill>
              <a:latin typeface="Arial"/>
              <a:cs typeface="Arial"/>
            </a:endParaRPr>
          </a:p>
          <a:p>
            <a:pPr>
              <a:spcBef>
                <a:spcPts val="2400"/>
              </a:spcBef>
              <a:spcAft>
                <a:spcPts val="200"/>
              </a:spcAft>
            </a:pPr>
            <a:r>
              <a:rPr sz="2000" b="1">
                <a:solidFill>
                  <a:srgbClr val="102A43"/>
                </a:solidFill>
                <a:latin typeface="Arial"/>
              </a:rPr>
              <a:t>Next: a directional Class 1 survey, and monitoring through the seasons.</a:t>
            </a:r>
            <a:endParaRPr sz="2000" b="1">
              <a:solidFill>
                <a:srgbClr val="102A43"/>
              </a:solidFill>
              <a:latin typeface="Arial"/>
              <a:cs typeface="Arial"/>
            </a:endParaRPr>
          </a:p>
          <a:p>
            <a:r>
              <a:rPr sz="1600" b="0">
                <a:solidFill>
                  <a:srgbClr val="5A646E"/>
                </a:solidFill>
                <a:latin typeface="Arial"/>
              </a:rPr>
              <a:t>The only way to confirm a source and test for a tonal character, which would tighten Maryland's night limit to 50 </a:t>
            </a:r>
            <a:r>
              <a:rPr sz="1600" b="0" err="1">
                <a:solidFill>
                  <a:srgbClr val="5A646E"/>
                </a:solidFill>
                <a:latin typeface="Arial"/>
              </a:rPr>
              <a:t>dB.</a:t>
            </a:r>
            <a:endParaRPr lang="en-US" sz="1600" err="1">
              <a:solidFill>
                <a:srgbClr val="5A646E"/>
              </a:solidFill>
              <a:latin typeface="Arial"/>
            </a:endParaRPr>
          </a:p>
          <a:p>
            <a:endParaRPr lang="en-US" sz="2000" b="1">
              <a:solidFill>
                <a:srgbClr val="102A43"/>
              </a:solidFill>
              <a:latin typeface="Arial"/>
            </a:endParaRPr>
          </a:p>
          <a:p>
            <a:r>
              <a:rPr lang="en-US" sz="2000" b="1">
                <a:solidFill>
                  <a:srgbClr val="102A43"/>
                </a:solidFill>
                <a:latin typeface="Arial"/>
              </a:rPr>
              <a:t>Limitations: </a:t>
            </a:r>
            <a:endParaRPr lang="en-US">
              <a:solidFill>
                <a:srgbClr val="000000"/>
              </a:solidFill>
              <a:latin typeface="Calibri"/>
              <a:ea typeface="Calibri"/>
              <a:cs typeface="Calibri"/>
            </a:endParaRPr>
          </a:p>
          <a:p>
            <a:pPr marL="342900" indent="-342900">
              <a:buFont typeface="Arial"/>
              <a:buChar char="•"/>
            </a:pPr>
            <a:r>
              <a:rPr lang="en-US" sz="2000">
                <a:solidFill>
                  <a:srgbClr val="102A43"/>
                </a:solidFill>
                <a:latin typeface="Arial"/>
              </a:rPr>
              <a:t>monitoring was continuous and not screened for wind or rain</a:t>
            </a:r>
            <a:endParaRPr lang="en-US">
              <a:ea typeface="Calibri"/>
              <a:cs typeface="Calibri"/>
            </a:endParaRPr>
          </a:p>
          <a:p>
            <a:pPr marL="342900" indent="-342900">
              <a:buFont typeface="Arial"/>
              <a:buChar char="•"/>
            </a:pPr>
            <a:r>
              <a:rPr lang="en-US" sz="2000">
                <a:solidFill>
                  <a:srgbClr val="102A43"/>
                </a:solidFill>
                <a:latin typeface="Arial"/>
              </a:rPr>
              <a:t>data capture varied by month, with March having fewer monitoring days at three homes.</a:t>
            </a:r>
            <a:endParaRPr lang="en-US" sz="2000">
              <a:solidFill>
                <a:srgbClr val="102A43"/>
              </a:solidFill>
              <a:latin typeface="Arial"/>
              <a:cs typeface="Arial"/>
            </a:endParaRPr>
          </a:p>
          <a:p>
            <a:endParaRPr lang="en-US" sz="2000">
              <a:solidFill>
                <a:srgbClr val="102A43"/>
              </a:solidFill>
              <a:latin typeface="Arial"/>
              <a:cs typeface="Arial"/>
            </a:endParaRPr>
          </a:p>
        </p:txBody>
      </p:sp>
      <p:sp>
        <p:nvSpPr>
          <p:cNvPr id="6" name="TextBox 5"/>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10</a:t>
            </a:r>
          </a:p>
        </p:txBody>
      </p:sp>
    </p:spTree>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77240" y="1371600"/>
            <a:ext cx="1463040" cy="82296"/>
          </a:xfrm>
          <a:prstGeom prst="rect">
            <a:avLst/>
          </a:prstGeom>
          <a:solidFill>
            <a:srgbClr val="6F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7907" y="691034"/>
            <a:ext cx="10801311" cy="3113673"/>
          </a:xfrm>
          <a:prstGeom prst="rect">
            <a:avLst/>
          </a:prstGeom>
          <a:noFill/>
        </p:spPr>
        <p:txBody>
          <a:bodyPr wrap="square" lIns="91440" tIns="45720" rIns="91440" bIns="45720" anchor="t">
            <a:spAutoFit/>
          </a:bodyPr>
          <a:lstStyle/>
          <a:p>
            <a:pPr algn="l">
              <a:spcBef>
                <a:spcPts val="0"/>
              </a:spcBef>
              <a:spcAft>
                <a:spcPts val="1800"/>
              </a:spcAft>
            </a:pPr>
            <a:r>
              <a:rPr lang="en-US" sz="4200" b="1">
                <a:solidFill>
                  <a:srgbClr val="FFFFFF"/>
                </a:solidFill>
                <a:latin typeface="Arial"/>
              </a:rPr>
              <a:t>Acknowledgements</a:t>
            </a:r>
            <a:endParaRPr lang="en-US"/>
          </a:p>
          <a:p>
            <a:pPr marL="342900" indent="-342900">
              <a:spcBef>
                <a:spcPts val="0"/>
              </a:spcBef>
              <a:spcAft>
                <a:spcPts val="1600"/>
              </a:spcAft>
              <a:buFont typeface="Arial"/>
              <a:buChar char="•"/>
            </a:pPr>
            <a:r>
              <a:rPr sz="2100" b="0">
                <a:solidFill>
                  <a:srgbClr val="BFD6E8"/>
                </a:solidFill>
                <a:latin typeface="Arial"/>
              </a:rPr>
              <a:t>Four households let us put an instrument in their back yard for six months. That is the reason this study exists.</a:t>
            </a:r>
          </a:p>
          <a:p>
            <a:pPr marL="342900" indent="-342900">
              <a:spcAft>
                <a:spcPts val="1600"/>
              </a:spcAft>
              <a:buFont typeface="Arial"/>
              <a:buChar char="•"/>
            </a:pPr>
            <a:r>
              <a:rPr lang="en-US" sz="2100">
                <a:solidFill>
                  <a:srgbClr val="BFD6E8"/>
                </a:solidFill>
                <a:latin typeface="Arial"/>
                <a:cs typeface="Arial"/>
              </a:rPr>
              <a:t>Funding by CHARMED Center: </a:t>
            </a:r>
            <a:r>
              <a:rPr lang="en-US" sz="2100">
                <a:solidFill>
                  <a:srgbClr val="BFD6E8"/>
                </a:solidFill>
                <a:latin typeface="Arial"/>
                <a:ea typeface="Calibri"/>
                <a:cs typeface="Arial"/>
              </a:rPr>
              <a:t>National Institute for Environmental Health Sciences (NIEHS) P30 Center for Community Health: Addressing Regional Maryland Environmental Determinants of Disease (CHARMED) Center (grant P30ES032756) Pilot Program; PI: Wills-Karp</a:t>
            </a:r>
            <a:endParaRPr lang="en-US" sz="2100">
              <a:solidFill>
                <a:srgbClr val="BFD6E8"/>
              </a:solidFill>
              <a:latin typeface="Arial"/>
              <a:cs typeface="Arial"/>
            </a:endParaRPr>
          </a:p>
        </p:txBody>
      </p:sp>
      <p:sp>
        <p:nvSpPr>
          <p:cNvPr id="5" name="TextBox 4"/>
          <p:cNvSpPr txBox="1"/>
          <p:nvPr/>
        </p:nvSpPr>
        <p:spPr>
          <a:xfrm>
            <a:off x="777240" y="4498848"/>
            <a:ext cx="10424160" cy="1923604"/>
          </a:xfrm>
          <a:prstGeom prst="rect">
            <a:avLst/>
          </a:prstGeom>
          <a:noFill/>
        </p:spPr>
        <p:txBody>
          <a:bodyPr wrap="square" lIns="91440" tIns="45720" rIns="91440" bIns="45720" anchor="t">
            <a:spAutoFit/>
          </a:bodyPr>
          <a:lstStyle/>
          <a:p>
            <a:pPr>
              <a:spcAft>
                <a:spcPts val="1000"/>
              </a:spcAft>
            </a:pPr>
            <a:r>
              <a:rPr sz="1500" b="1">
                <a:solidFill>
                  <a:srgbClr val="8FC7F0"/>
                </a:solidFill>
                <a:latin typeface="Arial"/>
              </a:rPr>
              <a:t>The analysis platform is open and online:   </a:t>
            </a:r>
            <a:r>
              <a:rPr lang="en-US" sz="1500">
                <a:solidFill>
                  <a:srgbClr val="8FC7F0"/>
                </a:solidFill>
                <a:ea typeface="+mn-lt"/>
                <a:cs typeface="+mn-lt"/>
              </a:rPr>
              <a:t>https://noise-analysis-platform-ga5lsxtezq-uc.a.run.app/</a:t>
            </a:r>
            <a:endParaRPr lang="en-US" sz="1500" b="1">
              <a:solidFill>
                <a:srgbClr val="8FC7F0"/>
              </a:solidFill>
              <a:ea typeface="+mn-lt"/>
              <a:cs typeface="+mn-lt"/>
            </a:endParaRPr>
          </a:p>
          <a:p>
            <a:pPr>
              <a:spcAft>
                <a:spcPts val="600"/>
              </a:spcAft>
            </a:pPr>
            <a:r>
              <a:rPr lang="en-US" sz="1150">
                <a:solidFill>
                  <a:srgbClr val="8FA8BD"/>
                </a:solidFill>
                <a:latin typeface="Arial"/>
              </a:rPr>
              <a:t>Limitations</a:t>
            </a:r>
            <a:r>
              <a:rPr sz="1150" b="0">
                <a:solidFill>
                  <a:srgbClr val="8FA8BD"/>
                </a:solidFill>
                <a:latin typeface="Arial"/>
              </a:rPr>
              <a:t>: monitoring was continuous and not screened for wind or rain · </a:t>
            </a:r>
            <a:endParaRPr lang="en-US" sz="1150">
              <a:solidFill>
                <a:srgbClr val="8FA8BD"/>
              </a:solidFill>
              <a:latin typeface="Arial"/>
            </a:endParaRPr>
          </a:p>
          <a:p>
            <a:pPr>
              <a:spcBef>
                <a:spcPts val="0"/>
              </a:spcBef>
              <a:spcAft>
                <a:spcPts val="600"/>
              </a:spcAft>
            </a:pPr>
            <a:r>
              <a:rPr sz="1150" b="0">
                <a:solidFill>
                  <a:srgbClr val="8FA8BD"/>
                </a:solidFill>
                <a:latin typeface="Arial"/>
              </a:rPr>
              <a:t>COMAR expresses its limits as </a:t>
            </a:r>
            <a:r>
              <a:rPr sz="1150" b="0" err="1">
                <a:solidFill>
                  <a:srgbClr val="8FA8BD"/>
                </a:solidFill>
                <a:latin typeface="Arial"/>
              </a:rPr>
              <a:t>Lₑq</a:t>
            </a:r>
            <a:r>
              <a:rPr sz="1150" b="0">
                <a:solidFill>
                  <a:srgbClr val="8FA8BD"/>
                </a:solidFill>
                <a:latin typeface="Arial"/>
              </a:rPr>
              <a:t> but states no averaging period · data capture varied by month, with March lower at three homes.</a:t>
            </a:r>
            <a:endParaRPr sz="1150" b="0">
              <a:solidFill>
                <a:srgbClr val="8FA8BD"/>
              </a:solidFill>
              <a:latin typeface="Arial"/>
              <a:cs typeface="Arial"/>
            </a:endParaRPr>
          </a:p>
          <a:p>
            <a:pPr>
              <a:spcAft>
                <a:spcPts val="1000"/>
              </a:spcAft>
            </a:pPr>
            <a:endParaRPr lang="en-US" sz="1150">
              <a:solidFill>
                <a:srgbClr val="8FA8BD"/>
              </a:solidFill>
              <a:latin typeface="Arial"/>
            </a:endParaRPr>
          </a:p>
          <a:p>
            <a:pPr>
              <a:spcAft>
                <a:spcPts val="1000"/>
              </a:spcAft>
            </a:pPr>
            <a:r>
              <a:rPr lang="en-US" sz="1150">
                <a:solidFill>
                  <a:srgbClr val="8FA8BD"/>
                </a:solidFill>
                <a:latin typeface="Arial"/>
              </a:rPr>
              <a:t>References:</a:t>
            </a:r>
            <a:endParaRPr lang="en-US">
              <a:solidFill>
                <a:srgbClr val="000000"/>
              </a:solidFill>
              <a:latin typeface="Calibri"/>
              <a:ea typeface="Calibri"/>
              <a:cs typeface="Calibri"/>
            </a:endParaRPr>
          </a:p>
          <a:p>
            <a:pPr>
              <a:spcBef>
                <a:spcPts val="0"/>
              </a:spcBef>
              <a:spcAft>
                <a:spcPts val="1000"/>
              </a:spcAft>
            </a:pPr>
            <a:r>
              <a:rPr lang="en-US" sz="1150">
                <a:solidFill>
                  <a:srgbClr val="8FA8BD"/>
                </a:solidFill>
                <a:latin typeface="Arial"/>
              </a:rPr>
              <a:t>WHO</a:t>
            </a:r>
            <a:r>
              <a:rPr sz="1150" b="0">
                <a:solidFill>
                  <a:srgbClr val="8FA8BD"/>
                </a:solidFill>
                <a:latin typeface="Arial"/>
              </a:rPr>
              <a:t> Environmental Noise Guidelines (2018) · WHO Europe, Burden of Disease from Environmental Noise (2011) · COMAR 26.02.03 · Howard County Code §8.900 · ISO 1996-1/-2 · IEC 61672-1:2002 · basemap © OpenStreetMap contributors</a:t>
            </a:r>
            <a:endParaRPr>
              <a:ea typeface="Calibri"/>
              <a:cs typeface="Calibri"/>
            </a:endParaRPr>
          </a:p>
        </p:txBody>
      </p:sp>
    </p:spTree>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C6D69-72DD-88BB-9FBD-1BFF18E4D4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60C20FB-3F9B-C450-E676-872BD2147575}"/>
              </a:ext>
            </a:extLst>
          </p:cNvPr>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457025FC-0D69-EA5A-EA57-B7121DBDB5F5}"/>
              </a:ext>
            </a:extLst>
          </p:cNvPr>
          <p:cNvSpPr/>
          <p:nvPr/>
        </p:nvSpPr>
        <p:spPr>
          <a:xfrm>
            <a:off x="777240" y="1371600"/>
            <a:ext cx="1463040" cy="82296"/>
          </a:xfrm>
          <a:prstGeom prst="rect">
            <a:avLst/>
          </a:prstGeom>
          <a:solidFill>
            <a:srgbClr val="6F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F5FBF56-865A-5412-C1F8-7BF56A12E20C}"/>
              </a:ext>
            </a:extLst>
          </p:cNvPr>
          <p:cNvSpPr txBox="1"/>
          <p:nvPr/>
        </p:nvSpPr>
        <p:spPr>
          <a:xfrm>
            <a:off x="777240" y="1922549"/>
            <a:ext cx="10424160" cy="1338828"/>
          </a:xfrm>
          <a:prstGeom prst="rect">
            <a:avLst/>
          </a:prstGeom>
          <a:noFill/>
        </p:spPr>
        <p:txBody>
          <a:bodyPr wrap="square" lIns="91440" tIns="45720" rIns="91440" bIns="45720" anchor="t">
            <a:spAutoFit/>
          </a:bodyPr>
          <a:lstStyle/>
          <a:p>
            <a:pPr>
              <a:spcAft>
                <a:spcPts val="1800"/>
              </a:spcAft>
            </a:pPr>
            <a:r>
              <a:rPr lang="en-US" sz="4200" b="1">
                <a:solidFill>
                  <a:srgbClr val="FFFFFF"/>
                </a:solidFill>
                <a:latin typeface="Arial"/>
              </a:rPr>
              <a:t>Thank You</a:t>
            </a:r>
          </a:p>
          <a:p>
            <a:pPr>
              <a:spcAft>
                <a:spcPts val="1800"/>
              </a:spcAft>
            </a:pPr>
            <a:r>
              <a:rPr lang="en-US" sz="2400" b="1">
                <a:solidFill>
                  <a:srgbClr val="FFFFFF"/>
                </a:solidFill>
                <a:latin typeface="Arial"/>
                <a:cs typeface="Arial"/>
              </a:rPr>
              <a:t>Questions are welcome</a:t>
            </a:r>
          </a:p>
        </p:txBody>
      </p:sp>
    </p:spTree>
    <p:extLst>
      <p:ext uri="{BB962C8B-B14F-4D97-AF65-F5344CB8AC3E}">
        <p14:creationId xmlns:p14="http://schemas.microsoft.com/office/powerpoint/2010/main" val="157517403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5A6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a:spAutoFit/>
          </a:bodyPr>
          <a:lstStyle/>
          <a:p>
            <a:pPr algn="l">
              <a:spcBef>
                <a:spcPts val="0"/>
              </a:spcBef>
              <a:spcAft>
                <a:spcPts val="1000"/>
              </a:spcAft>
            </a:pPr>
            <a:r>
              <a:rPr sz="1250" b="1">
                <a:solidFill>
                  <a:srgbClr val="5A646E"/>
                </a:solidFill>
                <a:latin typeface="Arial"/>
              </a:rPr>
              <a:t>POCKET SLIDE · FOR QUESTIONS</a:t>
            </a:r>
          </a:p>
        </p:txBody>
      </p:sp>
      <p:sp>
        <p:nvSpPr>
          <p:cNvPr id="4" name="TextBox 3"/>
          <p:cNvSpPr txBox="1"/>
          <p:nvPr/>
        </p:nvSpPr>
        <p:spPr>
          <a:xfrm>
            <a:off x="640080" y="749808"/>
            <a:ext cx="10881360" cy="777240"/>
          </a:xfrm>
          <a:prstGeom prst="rect">
            <a:avLst/>
          </a:prstGeom>
          <a:noFill/>
        </p:spPr>
        <p:txBody>
          <a:bodyPr wrap="square">
            <a:spAutoFit/>
          </a:bodyPr>
          <a:lstStyle/>
          <a:p>
            <a:pPr algn="l">
              <a:spcBef>
                <a:spcPts val="0"/>
              </a:spcBef>
              <a:spcAft>
                <a:spcPts val="1000"/>
              </a:spcAft>
            </a:pPr>
            <a:r>
              <a:rPr sz="3100" b="1">
                <a:solidFill>
                  <a:srgbClr val="102A43"/>
                </a:solidFill>
                <a:latin typeface="Arial"/>
              </a:rPr>
              <a:t>All measured values, 1 March – 31 August 2026</a:t>
            </a:r>
          </a:p>
        </p:txBody>
      </p:sp>
      <p:graphicFrame>
        <p:nvGraphicFramePr>
          <p:cNvPr id="5" name="Table 4"/>
          <p:cNvGraphicFramePr>
            <a:graphicFrameLocks noGrp="1"/>
          </p:cNvGraphicFramePr>
          <p:nvPr/>
        </p:nvGraphicFramePr>
        <p:xfrm>
          <a:off x="685800" y="1783080"/>
          <a:ext cx="11430000" cy="3136392"/>
        </p:xfrm>
        <a:graphic>
          <a:graphicData uri="http://schemas.openxmlformats.org/drawingml/2006/table">
            <a:tbl>
              <a:tblPr firstRow="1" bandRow="1">
                <a:tableStyleId>{5C22544A-7EE6-4342-B048-85BDC9FD1C3A}</a:tableStyleId>
              </a:tblPr>
              <a:tblGrid>
                <a:gridCol w="3246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868680">
                <a:tc>
                  <a:txBody>
                    <a:bodyPr/>
                    <a:lstStyle/>
                    <a:p>
                      <a:pPr algn="l"/>
                      <a:endParaRPr/>
                    </a:p>
                  </a:txBody>
                  <a:tcPr anchor="ctr">
                    <a:solidFill>
                      <a:srgbClr val="102A43"/>
                    </a:solidFill>
                  </a:tcPr>
                </a:tc>
                <a:tc>
                  <a:txBody>
                    <a:bodyPr/>
                    <a:lstStyle/>
                    <a:p>
                      <a:pPr algn="ctr"/>
                      <a:r>
                        <a:rPr sz="1200" b="1">
                          <a:solidFill>
                            <a:srgbClr val="FFFFFF"/>
                          </a:solidFill>
                          <a:latin typeface="Arial"/>
                        </a:rPr>
                        <a:t>Night L90</a:t>
                      </a:r>
                    </a:p>
                    <a:p>
                      <a:pPr algn="ctr"/>
                      <a:r>
                        <a:rPr sz="1200" b="1">
                          <a:solidFill>
                            <a:srgbClr val="FFFFFF"/>
                          </a:solidFill>
                          <a:latin typeface="Arial"/>
                        </a:rPr>
                        <a:t>(floor)</a:t>
                      </a:r>
                    </a:p>
                  </a:txBody>
                  <a:tcPr anchor="ctr">
                    <a:solidFill>
                      <a:srgbClr val="102A43"/>
                    </a:solidFill>
                  </a:tcPr>
                </a:tc>
                <a:tc>
                  <a:txBody>
                    <a:bodyPr/>
                    <a:lstStyle/>
                    <a:p>
                      <a:pPr algn="ctr"/>
                      <a:r>
                        <a:rPr sz="1200" b="1">
                          <a:solidFill>
                            <a:srgbClr val="FFFFFF"/>
                          </a:solidFill>
                          <a:latin typeface="Arial"/>
                        </a:rPr>
                        <a:t>Day L90</a:t>
                      </a:r>
                    </a:p>
                    <a:p>
                      <a:pPr algn="ctr"/>
                      <a:r>
                        <a:rPr sz="1200" b="1">
                          <a:solidFill>
                            <a:srgbClr val="FFFFFF"/>
                          </a:solidFill>
                          <a:latin typeface="Arial"/>
                        </a:rPr>
                        <a:t>(floor)</a:t>
                      </a:r>
                    </a:p>
                  </a:txBody>
                  <a:tcPr anchor="ctr">
                    <a:solidFill>
                      <a:srgbClr val="102A43"/>
                    </a:solidFill>
                  </a:tcPr>
                </a:tc>
                <a:tc>
                  <a:txBody>
                    <a:bodyPr/>
                    <a:lstStyle/>
                    <a:p>
                      <a:pPr algn="ctr"/>
                      <a:r>
                        <a:rPr sz="1200" b="1">
                          <a:solidFill>
                            <a:srgbClr val="FFFFFF"/>
                          </a:solidFill>
                          <a:latin typeface="Arial"/>
                        </a:rPr>
                        <a:t>Day-to-night</a:t>
                      </a:r>
                    </a:p>
                    <a:p>
                      <a:pPr algn="ctr"/>
                      <a:r>
                        <a:rPr sz="1200" b="1">
                          <a:solidFill>
                            <a:srgbClr val="FFFFFF"/>
                          </a:solidFill>
                          <a:latin typeface="Arial"/>
                        </a:rPr>
                        <a:t>drop</a:t>
                      </a:r>
                    </a:p>
                  </a:txBody>
                  <a:tcPr anchor="ctr">
                    <a:solidFill>
                      <a:srgbClr val="102A43"/>
                    </a:solidFill>
                  </a:tcPr>
                </a:tc>
                <a:tc>
                  <a:txBody>
                    <a:bodyPr/>
                    <a:lstStyle/>
                    <a:p>
                      <a:pPr algn="ctr"/>
                      <a:r>
                        <a:rPr sz="1200" b="1">
                          <a:solidFill>
                            <a:srgbClr val="FFFFFF"/>
                          </a:solidFill>
                          <a:latin typeface="Arial"/>
                        </a:rPr>
                        <a:t>Night Lₑq</a:t>
                      </a:r>
                    </a:p>
                    <a:p>
                      <a:pPr algn="ctr"/>
                      <a:r>
                        <a:rPr sz="1200" b="1">
                          <a:solidFill>
                            <a:srgbClr val="FFFFFF"/>
                          </a:solidFill>
                          <a:latin typeface="Arial"/>
                        </a:rPr>
                        <a:t>(average)</a:t>
                      </a:r>
                    </a:p>
                  </a:txBody>
                  <a:tcPr anchor="ctr">
                    <a:solidFill>
                      <a:srgbClr val="102A43"/>
                    </a:solidFill>
                  </a:tcPr>
                </a:tc>
                <a:tc>
                  <a:txBody>
                    <a:bodyPr/>
                    <a:lstStyle/>
                    <a:p>
                      <a:pPr algn="ctr"/>
                      <a:r>
                        <a:rPr sz="1200" b="1">
                          <a:solidFill>
                            <a:srgbClr val="FFFFFF"/>
                          </a:solidFill>
                          <a:latin typeface="Arial"/>
                        </a:rPr>
                        <a:t>Day Lₑq</a:t>
                      </a:r>
                    </a:p>
                    <a:p>
                      <a:pPr algn="ctr"/>
                      <a:r>
                        <a:rPr sz="1200" b="1">
                          <a:solidFill>
                            <a:srgbClr val="FFFFFF"/>
                          </a:solidFill>
                          <a:latin typeface="Arial"/>
                        </a:rPr>
                        <a:t>(average)</a:t>
                      </a:r>
                    </a:p>
                  </a:txBody>
                  <a:tcPr anchor="ctr">
                    <a:solidFill>
                      <a:srgbClr val="102A43"/>
                    </a:solidFill>
                  </a:tcPr>
                </a:tc>
                <a:tc>
                  <a:txBody>
                    <a:bodyPr/>
                    <a:lstStyle/>
                    <a:p>
                      <a:pPr algn="ctr"/>
                      <a:r>
                        <a:rPr sz="1200" b="1">
                          <a:solidFill>
                            <a:srgbClr val="FFFFFF"/>
                          </a:solidFill>
                          <a:latin typeface="Arial"/>
                        </a:rPr>
                        <a:t>24-hr Lₑq</a:t>
                      </a:r>
                    </a:p>
                  </a:txBody>
                  <a:tcPr anchor="ctr">
                    <a:solidFill>
                      <a:srgbClr val="102A43"/>
                    </a:solidFill>
                  </a:tcPr>
                </a:tc>
                <a:extLst>
                  <a:ext uri="{0D108BD9-81ED-4DB2-BD59-A6C34878D82A}">
                    <a16:rowId xmlns:a16="http://schemas.microsoft.com/office/drawing/2014/main" val="10000"/>
                  </a:ext>
                </a:extLst>
              </a:tr>
              <a:tr h="566928">
                <a:tc>
                  <a:txBody>
                    <a:bodyPr/>
                    <a:lstStyle/>
                    <a:p>
                      <a:pPr algn="l"/>
                      <a:r>
                        <a:rPr sz="1450" b="1">
                          <a:solidFill>
                            <a:srgbClr val="1A1A1A"/>
                          </a:solidFill>
                          <a:latin typeface="Arial"/>
                        </a:rPr>
                        <a:t>Reference home (A), 2 mi away</a:t>
                      </a:r>
                    </a:p>
                  </a:txBody>
                  <a:tcPr anchor="ctr">
                    <a:solidFill>
                      <a:srgbClr val="ECF4FA"/>
                    </a:solidFill>
                  </a:tcPr>
                </a:tc>
                <a:tc>
                  <a:txBody>
                    <a:bodyPr/>
                    <a:lstStyle/>
                    <a:p>
                      <a:pPr algn="ctr"/>
                      <a:r>
                        <a:rPr sz="1450" b="1">
                          <a:solidFill>
                            <a:srgbClr val="1A1A1A"/>
                          </a:solidFill>
                          <a:latin typeface="Arial"/>
                        </a:rPr>
                        <a:t>39.2</a:t>
                      </a:r>
                    </a:p>
                  </a:txBody>
                  <a:tcPr anchor="ctr">
                    <a:solidFill>
                      <a:srgbClr val="ECF4FA"/>
                    </a:solidFill>
                  </a:tcPr>
                </a:tc>
                <a:tc>
                  <a:txBody>
                    <a:bodyPr/>
                    <a:lstStyle/>
                    <a:p>
                      <a:pPr algn="ctr"/>
                      <a:r>
                        <a:rPr sz="1450" b="1">
                          <a:solidFill>
                            <a:srgbClr val="1A1A1A"/>
                          </a:solidFill>
                          <a:latin typeface="Arial"/>
                        </a:rPr>
                        <a:t>47.5</a:t>
                      </a:r>
                    </a:p>
                  </a:txBody>
                  <a:tcPr anchor="ctr">
                    <a:solidFill>
                      <a:srgbClr val="ECF4FA"/>
                    </a:solidFill>
                  </a:tcPr>
                </a:tc>
                <a:tc>
                  <a:txBody>
                    <a:bodyPr/>
                    <a:lstStyle/>
                    <a:p>
                      <a:pPr algn="ctr"/>
                      <a:r>
                        <a:rPr sz="1450" b="1">
                          <a:solidFill>
                            <a:srgbClr val="1F77B4"/>
                          </a:solidFill>
                          <a:latin typeface="Arial"/>
                        </a:rPr>
                        <a:t>8.3 dB</a:t>
                      </a:r>
                    </a:p>
                  </a:txBody>
                  <a:tcPr anchor="ctr">
                    <a:solidFill>
                      <a:srgbClr val="ECF4FA"/>
                    </a:solidFill>
                  </a:tcPr>
                </a:tc>
                <a:tc>
                  <a:txBody>
                    <a:bodyPr/>
                    <a:lstStyle/>
                    <a:p>
                      <a:pPr algn="ctr"/>
                      <a:r>
                        <a:rPr sz="1450" b="1">
                          <a:solidFill>
                            <a:srgbClr val="1A1A1A"/>
                          </a:solidFill>
                          <a:latin typeface="Arial"/>
                        </a:rPr>
                        <a:t>53.1</a:t>
                      </a:r>
                    </a:p>
                  </a:txBody>
                  <a:tcPr anchor="ctr">
                    <a:solidFill>
                      <a:srgbClr val="ECF4FA"/>
                    </a:solidFill>
                  </a:tcPr>
                </a:tc>
                <a:tc>
                  <a:txBody>
                    <a:bodyPr/>
                    <a:lstStyle/>
                    <a:p>
                      <a:pPr algn="ctr"/>
                      <a:r>
                        <a:rPr sz="1450" b="1">
                          <a:solidFill>
                            <a:srgbClr val="1A1A1A"/>
                          </a:solidFill>
                          <a:latin typeface="Arial"/>
                        </a:rPr>
                        <a:t>57.5</a:t>
                      </a:r>
                    </a:p>
                  </a:txBody>
                  <a:tcPr anchor="ctr">
                    <a:solidFill>
                      <a:srgbClr val="ECF4FA"/>
                    </a:solidFill>
                  </a:tcPr>
                </a:tc>
                <a:tc>
                  <a:txBody>
                    <a:bodyPr/>
                    <a:lstStyle/>
                    <a:p>
                      <a:pPr algn="ctr"/>
                      <a:r>
                        <a:rPr sz="1450" b="1">
                          <a:solidFill>
                            <a:srgbClr val="1A1A1A"/>
                          </a:solidFill>
                          <a:latin typeface="Arial"/>
                        </a:rPr>
                        <a:t>56.3</a:t>
                      </a:r>
                    </a:p>
                  </a:txBody>
                  <a:tcPr anchor="ctr">
                    <a:solidFill>
                      <a:srgbClr val="ECF4FA"/>
                    </a:solidFill>
                  </a:tcPr>
                </a:tc>
                <a:extLst>
                  <a:ext uri="{0D108BD9-81ED-4DB2-BD59-A6C34878D82A}">
                    <a16:rowId xmlns:a16="http://schemas.microsoft.com/office/drawing/2014/main" val="10001"/>
                  </a:ext>
                </a:extLst>
              </a:tr>
              <a:tr h="566928">
                <a:tc>
                  <a:txBody>
                    <a:bodyPr/>
                    <a:lstStyle/>
                    <a:p>
                      <a:pPr algn="l"/>
                      <a:r>
                        <a:rPr sz="1450" b="0">
                          <a:solidFill>
                            <a:srgbClr val="1A1A1A"/>
                          </a:solidFill>
                          <a:latin typeface="Arial"/>
                        </a:rPr>
                        <a:t>Home B, fenceline</a:t>
                      </a:r>
                    </a:p>
                  </a:txBody>
                  <a:tcPr anchor="ctr">
                    <a:solidFill>
                      <a:srgbClr val="FFFFFF"/>
                    </a:solidFill>
                  </a:tcPr>
                </a:tc>
                <a:tc>
                  <a:txBody>
                    <a:bodyPr/>
                    <a:lstStyle/>
                    <a:p>
                      <a:pPr algn="ctr"/>
                      <a:r>
                        <a:rPr sz="1450" b="0">
                          <a:solidFill>
                            <a:srgbClr val="1A1A1A"/>
                          </a:solidFill>
                          <a:latin typeface="Arial"/>
                        </a:rPr>
                        <a:t>41.5</a:t>
                      </a:r>
                    </a:p>
                  </a:txBody>
                  <a:tcPr anchor="ctr">
                    <a:solidFill>
                      <a:srgbClr val="FFFFFF"/>
                    </a:solidFill>
                  </a:tcPr>
                </a:tc>
                <a:tc>
                  <a:txBody>
                    <a:bodyPr/>
                    <a:lstStyle/>
                    <a:p>
                      <a:pPr algn="ctr"/>
                      <a:r>
                        <a:rPr sz="1450" b="0">
                          <a:solidFill>
                            <a:srgbClr val="1A1A1A"/>
                          </a:solidFill>
                          <a:latin typeface="Arial"/>
                        </a:rPr>
                        <a:t>42.9</a:t>
                      </a:r>
                    </a:p>
                  </a:txBody>
                  <a:tcPr anchor="ctr">
                    <a:solidFill>
                      <a:srgbClr val="FFFFFF"/>
                    </a:solidFill>
                  </a:tcPr>
                </a:tc>
                <a:tc>
                  <a:txBody>
                    <a:bodyPr/>
                    <a:lstStyle/>
                    <a:p>
                      <a:pPr algn="ctr"/>
                      <a:r>
                        <a:rPr sz="1450" b="1">
                          <a:solidFill>
                            <a:srgbClr val="1A1A1A"/>
                          </a:solidFill>
                          <a:latin typeface="Arial"/>
                        </a:rPr>
                        <a:t>1.4 dB</a:t>
                      </a:r>
                    </a:p>
                  </a:txBody>
                  <a:tcPr anchor="ctr">
                    <a:solidFill>
                      <a:srgbClr val="FFFFFF"/>
                    </a:solidFill>
                  </a:tcPr>
                </a:tc>
                <a:tc>
                  <a:txBody>
                    <a:bodyPr/>
                    <a:lstStyle/>
                    <a:p>
                      <a:pPr algn="ctr"/>
                      <a:r>
                        <a:rPr sz="1450" b="0">
                          <a:solidFill>
                            <a:srgbClr val="1A1A1A"/>
                          </a:solidFill>
                          <a:latin typeface="Arial"/>
                        </a:rPr>
                        <a:t>48.5</a:t>
                      </a:r>
                    </a:p>
                  </a:txBody>
                  <a:tcPr anchor="ctr">
                    <a:solidFill>
                      <a:srgbClr val="FFFFFF"/>
                    </a:solidFill>
                  </a:tcPr>
                </a:tc>
                <a:tc>
                  <a:txBody>
                    <a:bodyPr/>
                    <a:lstStyle/>
                    <a:p>
                      <a:pPr algn="ctr"/>
                      <a:r>
                        <a:rPr sz="1450" b="0">
                          <a:solidFill>
                            <a:srgbClr val="1A1A1A"/>
                          </a:solidFill>
                          <a:latin typeface="Arial"/>
                        </a:rPr>
                        <a:t>54.5</a:t>
                      </a:r>
                    </a:p>
                  </a:txBody>
                  <a:tcPr anchor="ctr">
                    <a:solidFill>
                      <a:srgbClr val="FFFFFF"/>
                    </a:solidFill>
                  </a:tcPr>
                </a:tc>
                <a:tc>
                  <a:txBody>
                    <a:bodyPr/>
                    <a:lstStyle/>
                    <a:p>
                      <a:pPr algn="ctr"/>
                      <a:r>
                        <a:rPr sz="1450" b="0">
                          <a:solidFill>
                            <a:srgbClr val="1A1A1A"/>
                          </a:solidFill>
                          <a:latin typeface="Arial"/>
                        </a:rPr>
                        <a:t>53.1</a:t>
                      </a:r>
                    </a:p>
                  </a:txBody>
                  <a:tcPr anchor="ctr">
                    <a:solidFill>
                      <a:srgbClr val="FFFFFF"/>
                    </a:solidFill>
                  </a:tcPr>
                </a:tc>
                <a:extLst>
                  <a:ext uri="{0D108BD9-81ED-4DB2-BD59-A6C34878D82A}">
                    <a16:rowId xmlns:a16="http://schemas.microsoft.com/office/drawing/2014/main" val="10002"/>
                  </a:ext>
                </a:extLst>
              </a:tr>
              <a:tr h="566928">
                <a:tc>
                  <a:txBody>
                    <a:bodyPr/>
                    <a:lstStyle/>
                    <a:p>
                      <a:pPr algn="l"/>
                      <a:r>
                        <a:rPr sz="1450" b="0">
                          <a:solidFill>
                            <a:srgbClr val="1A1A1A"/>
                          </a:solidFill>
                          <a:latin typeface="Arial"/>
                        </a:rPr>
                        <a:t>Home C, fenceline</a:t>
                      </a:r>
                    </a:p>
                  </a:txBody>
                  <a:tcPr anchor="ctr">
                    <a:solidFill>
                      <a:srgbClr val="FFFFFF"/>
                    </a:solidFill>
                  </a:tcPr>
                </a:tc>
                <a:tc>
                  <a:txBody>
                    <a:bodyPr/>
                    <a:lstStyle/>
                    <a:p>
                      <a:pPr algn="ctr"/>
                      <a:r>
                        <a:rPr sz="1450" b="0">
                          <a:solidFill>
                            <a:srgbClr val="1A1A1A"/>
                          </a:solidFill>
                          <a:latin typeface="Arial"/>
                        </a:rPr>
                        <a:t>48.1</a:t>
                      </a:r>
                    </a:p>
                  </a:txBody>
                  <a:tcPr anchor="ctr">
                    <a:solidFill>
                      <a:srgbClr val="FFFFFF"/>
                    </a:solidFill>
                  </a:tcPr>
                </a:tc>
                <a:tc>
                  <a:txBody>
                    <a:bodyPr/>
                    <a:lstStyle/>
                    <a:p>
                      <a:pPr algn="ctr"/>
                      <a:r>
                        <a:rPr sz="1450" b="0">
                          <a:solidFill>
                            <a:srgbClr val="1A1A1A"/>
                          </a:solidFill>
                          <a:latin typeface="Arial"/>
                        </a:rPr>
                        <a:t>50.0</a:t>
                      </a:r>
                    </a:p>
                  </a:txBody>
                  <a:tcPr anchor="ctr">
                    <a:solidFill>
                      <a:srgbClr val="FFFFFF"/>
                    </a:solidFill>
                  </a:tcPr>
                </a:tc>
                <a:tc>
                  <a:txBody>
                    <a:bodyPr/>
                    <a:lstStyle/>
                    <a:p>
                      <a:pPr algn="ctr"/>
                      <a:r>
                        <a:rPr sz="1450" b="1">
                          <a:solidFill>
                            <a:srgbClr val="1A1A1A"/>
                          </a:solidFill>
                          <a:latin typeface="Arial"/>
                        </a:rPr>
                        <a:t>1.9 dB</a:t>
                      </a:r>
                    </a:p>
                  </a:txBody>
                  <a:tcPr anchor="ctr">
                    <a:solidFill>
                      <a:srgbClr val="FFFFFF"/>
                    </a:solidFill>
                  </a:tcPr>
                </a:tc>
                <a:tc>
                  <a:txBody>
                    <a:bodyPr/>
                    <a:lstStyle/>
                    <a:p>
                      <a:pPr algn="ctr"/>
                      <a:r>
                        <a:rPr sz="1450" b="0">
                          <a:solidFill>
                            <a:srgbClr val="1A1A1A"/>
                          </a:solidFill>
                          <a:latin typeface="Arial"/>
                        </a:rPr>
                        <a:t>51.7</a:t>
                      </a:r>
                    </a:p>
                  </a:txBody>
                  <a:tcPr anchor="ctr">
                    <a:solidFill>
                      <a:srgbClr val="FFFFFF"/>
                    </a:solidFill>
                  </a:tcPr>
                </a:tc>
                <a:tc>
                  <a:txBody>
                    <a:bodyPr/>
                    <a:lstStyle/>
                    <a:p>
                      <a:pPr algn="ctr"/>
                      <a:r>
                        <a:rPr sz="1450" b="0">
                          <a:solidFill>
                            <a:srgbClr val="1A1A1A"/>
                          </a:solidFill>
                          <a:latin typeface="Arial"/>
                        </a:rPr>
                        <a:t>56.9</a:t>
                      </a:r>
                    </a:p>
                  </a:txBody>
                  <a:tcPr anchor="ctr">
                    <a:solidFill>
                      <a:srgbClr val="FFFFFF"/>
                    </a:solidFill>
                  </a:tcPr>
                </a:tc>
                <a:tc>
                  <a:txBody>
                    <a:bodyPr/>
                    <a:lstStyle/>
                    <a:p>
                      <a:pPr algn="ctr"/>
                      <a:r>
                        <a:rPr sz="1450" b="0">
                          <a:solidFill>
                            <a:srgbClr val="1A1A1A"/>
                          </a:solidFill>
                          <a:latin typeface="Arial"/>
                        </a:rPr>
                        <a:t>55.6</a:t>
                      </a:r>
                    </a:p>
                  </a:txBody>
                  <a:tcPr anchor="ctr">
                    <a:solidFill>
                      <a:srgbClr val="FFFFFF"/>
                    </a:solidFill>
                  </a:tcPr>
                </a:tc>
                <a:extLst>
                  <a:ext uri="{0D108BD9-81ED-4DB2-BD59-A6C34878D82A}">
                    <a16:rowId xmlns:a16="http://schemas.microsoft.com/office/drawing/2014/main" val="10003"/>
                  </a:ext>
                </a:extLst>
              </a:tr>
              <a:tr h="566928">
                <a:tc>
                  <a:txBody>
                    <a:bodyPr/>
                    <a:lstStyle/>
                    <a:p>
                      <a:pPr algn="l"/>
                      <a:r>
                        <a:rPr sz="1450" b="0">
                          <a:solidFill>
                            <a:srgbClr val="1A1A1A"/>
                          </a:solidFill>
                          <a:latin typeface="Arial"/>
                        </a:rPr>
                        <a:t>Home D, fenceline</a:t>
                      </a:r>
                    </a:p>
                  </a:txBody>
                  <a:tcPr anchor="ctr">
                    <a:solidFill>
                      <a:srgbClr val="FFFFFF"/>
                    </a:solidFill>
                  </a:tcPr>
                </a:tc>
                <a:tc>
                  <a:txBody>
                    <a:bodyPr/>
                    <a:lstStyle/>
                    <a:p>
                      <a:pPr algn="ctr"/>
                      <a:r>
                        <a:rPr sz="1450" b="0">
                          <a:solidFill>
                            <a:srgbClr val="1A1A1A"/>
                          </a:solidFill>
                          <a:latin typeface="Arial"/>
                        </a:rPr>
                        <a:t>48.4</a:t>
                      </a:r>
                    </a:p>
                  </a:txBody>
                  <a:tcPr anchor="ctr">
                    <a:solidFill>
                      <a:srgbClr val="FFFFFF"/>
                    </a:solidFill>
                  </a:tcPr>
                </a:tc>
                <a:tc>
                  <a:txBody>
                    <a:bodyPr/>
                    <a:lstStyle/>
                    <a:p>
                      <a:pPr algn="ctr"/>
                      <a:r>
                        <a:rPr sz="1450" b="0">
                          <a:solidFill>
                            <a:srgbClr val="1A1A1A"/>
                          </a:solidFill>
                          <a:latin typeface="Arial"/>
                        </a:rPr>
                        <a:t>52.1</a:t>
                      </a:r>
                    </a:p>
                  </a:txBody>
                  <a:tcPr anchor="ctr">
                    <a:solidFill>
                      <a:srgbClr val="FFFFFF"/>
                    </a:solidFill>
                  </a:tcPr>
                </a:tc>
                <a:tc>
                  <a:txBody>
                    <a:bodyPr/>
                    <a:lstStyle/>
                    <a:p>
                      <a:pPr algn="ctr"/>
                      <a:r>
                        <a:rPr sz="1450" b="1">
                          <a:solidFill>
                            <a:srgbClr val="1A1A1A"/>
                          </a:solidFill>
                          <a:latin typeface="Arial"/>
                        </a:rPr>
                        <a:t>3.7 dB</a:t>
                      </a:r>
                    </a:p>
                  </a:txBody>
                  <a:tcPr anchor="ctr">
                    <a:solidFill>
                      <a:srgbClr val="FFFFFF"/>
                    </a:solidFill>
                  </a:tcPr>
                </a:tc>
                <a:tc>
                  <a:txBody>
                    <a:bodyPr/>
                    <a:lstStyle/>
                    <a:p>
                      <a:pPr algn="ctr"/>
                      <a:r>
                        <a:rPr sz="1450" b="0">
                          <a:solidFill>
                            <a:srgbClr val="1A1A1A"/>
                          </a:solidFill>
                          <a:latin typeface="Arial"/>
                        </a:rPr>
                        <a:t>53.5</a:t>
                      </a:r>
                    </a:p>
                  </a:txBody>
                  <a:tcPr anchor="ctr">
                    <a:solidFill>
                      <a:srgbClr val="FFFFFF"/>
                    </a:solidFill>
                  </a:tcPr>
                </a:tc>
                <a:tc>
                  <a:txBody>
                    <a:bodyPr/>
                    <a:lstStyle/>
                    <a:p>
                      <a:pPr algn="ctr"/>
                      <a:r>
                        <a:rPr sz="1450" b="0">
                          <a:solidFill>
                            <a:srgbClr val="1A1A1A"/>
                          </a:solidFill>
                          <a:latin typeface="Arial"/>
                        </a:rPr>
                        <a:t>58.8</a:t>
                      </a:r>
                    </a:p>
                  </a:txBody>
                  <a:tcPr anchor="ctr">
                    <a:solidFill>
                      <a:srgbClr val="FFFFFF"/>
                    </a:solidFill>
                  </a:tcPr>
                </a:tc>
                <a:tc>
                  <a:txBody>
                    <a:bodyPr/>
                    <a:lstStyle/>
                    <a:p>
                      <a:pPr algn="ctr"/>
                      <a:r>
                        <a:rPr sz="1450" b="0">
                          <a:solidFill>
                            <a:srgbClr val="1A1A1A"/>
                          </a:solidFill>
                          <a:latin typeface="Arial"/>
                        </a:rPr>
                        <a:t>57.5</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85800" y="4846320"/>
            <a:ext cx="10881360" cy="1554480"/>
          </a:xfrm>
          <a:prstGeom prst="rect">
            <a:avLst/>
          </a:prstGeom>
          <a:noFill/>
        </p:spPr>
        <p:txBody>
          <a:bodyPr wrap="square">
            <a:spAutoFit/>
          </a:bodyPr>
          <a:lstStyle/>
          <a:p>
            <a:pPr algn="l">
              <a:spcBef>
                <a:spcPts val="0"/>
              </a:spcBef>
              <a:spcAft>
                <a:spcPts val="900"/>
              </a:spcAft>
            </a:pPr>
            <a:r>
              <a:rPr sz="1500" b="1">
                <a:solidFill>
                  <a:srgbClr val="102A43"/>
                </a:solidFill>
                <a:latin typeface="Arial"/>
              </a:rPr>
              <a:t>These are six-month energy averages over all readings. The night-by-night medians on slide 8 differ slightly. Both are reported.</a:t>
            </a:r>
          </a:p>
          <a:p>
            <a:pPr>
              <a:spcBef>
                <a:spcPts val="0"/>
              </a:spcBef>
              <a:spcAft>
                <a:spcPts val="1000"/>
              </a:spcAft>
            </a:pPr>
            <a:r>
              <a:rPr sz="1200" b="0">
                <a:solidFill>
                  <a:srgbClr val="5A646E"/>
                </a:solidFill>
                <a:latin typeface="Arial"/>
              </a:rPr>
              <a:t>dB, A-weighted. Night = 10 p.m.–7 a.m. (9 h contiguous); day = 7 a.m.–10 p.m. L90 = the level exceeded 90% of the time; no limit is set on L90. 24-hr Lₑq is all readings combined, not an average of the day and night columns, and not WHO's Lₑₑₙ, which penalises evening and night. WHO night guideline 45 dB; Maryland night limit 55 dB, day 65 dB.</a:t>
            </a:r>
          </a:p>
        </p:txBody>
      </p:sp>
      <p:sp>
        <p:nvSpPr>
          <p:cNvPr id="7" name="TextBox 6"/>
          <p:cNvSpPr txBox="1"/>
          <p:nvPr/>
        </p:nvSpPr>
        <p:spPr>
          <a:xfrm>
            <a:off x="10652760" y="6355080"/>
            <a:ext cx="1051560" cy="320040"/>
          </a:xfrm>
          <a:prstGeom prst="rect">
            <a:avLst/>
          </a:prstGeom>
          <a:noFill/>
        </p:spPr>
        <p:txBody>
          <a:bodyPr wrap="square">
            <a:spAutoFit/>
          </a:bodyPr>
          <a:lstStyle/>
          <a:p>
            <a:pPr algn="r">
              <a:spcBef>
                <a:spcPts val="0"/>
              </a:spcBef>
              <a:spcAft>
                <a:spcPts val="1000"/>
              </a:spcAft>
            </a:pPr>
            <a:r>
              <a:rPr sz="1100" b="0">
                <a:solidFill>
                  <a:srgbClr val="5A646E"/>
                </a:solidFill>
                <a:latin typeface="Aria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2</cp:revision>
  <dcterms:created xsi:type="dcterms:W3CDTF">2013-01-27T09:14:16Z</dcterms:created>
  <dcterms:modified xsi:type="dcterms:W3CDTF">2026-09-17T13:06:21Z</dcterms:modified>
  <cp:category/>
</cp:coreProperties>
</file>